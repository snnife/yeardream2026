
<file path=[Content_Types].xml><?xml version="1.0" encoding="utf-8"?>
<Types xmlns="http://schemas.openxmlformats.org/package/2006/content-types"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tags/tag29.xml" ContentType="application/vnd.openxmlformats-officedocument.presentationml.tags+xml"/>
  <Override PartName="/ppt/tags/tag38.xml" ContentType="application/vnd.openxmlformats-officedocument.presentationml.tags+xml"/>
  <Override PartName="/ppt/tags/tag47.xml" ContentType="application/vnd.openxmlformats-officedocument.presentationml.tags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tags/tag39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386" r:id="rId2"/>
    <p:sldId id="414" r:id="rId3"/>
    <p:sldId id="415" r:id="rId4"/>
    <p:sldId id="395" r:id="rId5"/>
  </p:sldIdLst>
  <p:sldSz cx="9906000" cy="6858000" type="A4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9C1E7FEC-1AC7-4E98-B9FE-0430A6E73C68}">
          <p14:sldIdLst>
            <p14:sldId id="386"/>
            <p14:sldId id="414"/>
            <p14:sldId id="415"/>
            <p14:sldId id="395"/>
            <p14:sldId id="396"/>
            <p14:sldId id="403"/>
            <p14:sldId id="413"/>
            <p14:sldId id="402"/>
            <p14:sldId id="397"/>
            <p14:sldId id="405"/>
            <p14:sldId id="404"/>
            <p14:sldId id="406"/>
            <p14:sldId id="398"/>
            <p14:sldId id="408"/>
            <p14:sldId id="407"/>
            <p14:sldId id="409"/>
            <p14:sldId id="399"/>
            <p14:sldId id="411"/>
            <p14:sldId id="410"/>
            <p14:sldId id="412"/>
            <p14:sldId id="427"/>
            <p14:sldId id="428"/>
            <p14:sldId id="416"/>
            <p14:sldId id="429"/>
            <p14:sldId id="418"/>
            <p14:sldId id="430"/>
            <p14:sldId id="431"/>
            <p14:sldId id="424"/>
            <p14:sldId id="419"/>
            <p14:sldId id="425"/>
            <p14:sldId id="426"/>
            <p14:sldId id="417"/>
            <p14:sldId id="421"/>
            <p14:sldId id="422"/>
            <p14:sldId id="423"/>
            <p14:sldId id="400"/>
            <p14:sldId id="420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1298" userDrawn="1">
          <p15:clr>
            <a:srgbClr val="A4A3A4"/>
          </p15:clr>
        </p15:guide>
        <p15:guide id="2" pos="965" userDrawn="1">
          <p15:clr>
            <a:srgbClr val="A4A3A4"/>
          </p15:clr>
        </p15:guide>
        <p15:guide id="3" pos="4503" userDrawn="1">
          <p15:clr>
            <a:srgbClr val="A4A3A4"/>
          </p15:clr>
        </p15:guide>
        <p15:guide id="4" pos="21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70C0"/>
    <a:srgbClr val="D9D9D9"/>
    <a:srgbClr val="7F7F7F"/>
    <a:srgbClr val="F2F2F2"/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624" autoAdjust="0"/>
    <p:restoredTop sz="94660"/>
  </p:normalViewPr>
  <p:slideViewPr>
    <p:cSldViewPr snapToGrid="0">
      <p:cViewPr varScale="1">
        <p:scale>
          <a:sx n="97" d="100"/>
          <a:sy n="97" d="100"/>
        </p:scale>
        <p:origin x="-102" y="-282"/>
      </p:cViewPr>
      <p:guideLst>
        <p:guide orient="horz" pos="1298"/>
        <p:guide pos="965"/>
        <p:guide pos="4503"/>
        <p:guide pos="21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9ECEA-A760-4D4B-A190-8CFF9BD77321}" type="datetimeFigureOut">
              <a:rPr lang="ko-KR" altLang="en-US" smtClean="0"/>
              <a:pPr/>
              <a:t>2015-11-10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8C147-C169-4BC5-8591-0F534CBF2C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202866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3D8F07-F6E4-437A-9D38-FB30AC8830C0}" type="datetimeFigureOut">
              <a:rPr lang="ko-KR" altLang="en-US" smtClean="0"/>
              <a:pPr/>
              <a:t>2015-11-10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6EB6B-08EC-4FEE-BCED-0EB0B5C92FD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19972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표지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24042" y="695316"/>
            <a:ext cx="7537870" cy="1470025"/>
          </a:xfrm>
          <a:prstGeom prst="rect">
            <a:avLst/>
          </a:prstGeom>
        </p:spPr>
        <p:txBody>
          <a:bodyPr/>
          <a:lstStyle>
            <a:lvl1pPr algn="r">
              <a:defRPr sz="4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027849" y="1604960"/>
            <a:ext cx="5400713" cy="647700"/>
          </a:xfrm>
          <a:prstGeom prst="rect">
            <a:avLst/>
          </a:prstGeom>
        </p:spPr>
        <p:txBody>
          <a:bodyPr anchor="t" anchorCtr="0"/>
          <a:lstStyle>
            <a:lvl1pPr marL="0" indent="0" algn="r">
              <a:lnSpc>
                <a:spcPts val="1300"/>
              </a:lnSpc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6" name="그림 5" descr="01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5286388"/>
            <a:ext cx="9906000" cy="904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3330" y="180949"/>
            <a:ext cx="5214974" cy="322263"/>
          </a:xfrm>
          <a:prstGeom prst="rect">
            <a:avLst/>
          </a:prstGeom>
        </p:spPr>
        <p:txBody>
          <a:bodyPr/>
          <a:lstStyle>
            <a:lvl1pPr algn="l"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pic>
        <p:nvPicPr>
          <p:cNvPr id="2050" name="Picture 2" descr="D:\받은파일\gon10@paran.com\PPT\01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04"/>
            <a:ext cx="9906000" cy="4191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xmlns="" val="3597711925"/>
              </p:ext>
            </p:extLst>
          </p:nvPr>
        </p:nvGraphicFramePr>
        <p:xfrm>
          <a:off x="56456" y="44624"/>
          <a:ext cx="9793088" cy="6552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919"/>
                <a:gridCol w="2444608"/>
                <a:gridCol w="984493"/>
                <a:gridCol w="2608034"/>
                <a:gridCol w="2608034"/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Screen</a:t>
                      </a:r>
                      <a:r>
                        <a:rPr lang="en-US" altLang="ko-KR" sz="800" b="0" baseline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 ID</a:t>
                      </a:r>
                      <a:endParaRPr lang="ko-KR" alt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2015.4.23</a:t>
                      </a:r>
                      <a:endParaRPr kumimoji="1"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Detail</a:t>
                      </a:r>
                      <a:r>
                        <a:rPr kumimoji="1"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description</a:t>
                      </a:r>
                      <a:endParaRPr kumimoji="1"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Author</a:t>
                      </a:r>
                      <a:endParaRPr lang="ko-KR" altLang="en-US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김지훈</a:t>
                      </a:r>
                      <a:endParaRPr lang="ko-KR" alt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Version</a:t>
                      </a:r>
                      <a:endParaRPr lang="ko-KR" altLang="en-US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0.8.0</a:t>
                      </a:r>
                      <a:endParaRPr kumimoji="1"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endParaRPr kumimoji="1"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b="0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Screen Path</a:t>
                      </a:r>
                      <a:endParaRPr lang="ko-KR" altLang="en-US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6024">
                <a:tc gridSpan="4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b="0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616624">
                <a:tc gridSpan="4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b="1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800" b="1" kern="12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69197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 userDrawn="1"/>
        </p:nvSpPr>
        <p:spPr bwMode="auto">
          <a:xfrm>
            <a:off x="9278069" y="6599041"/>
            <a:ext cx="571475" cy="214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09" tIns="45704" rIns="91409" bIns="45704" anchor="ctr" anchorCtr="1"/>
          <a:lstStyle/>
          <a:p>
            <a:pPr algn="ctr">
              <a:defRPr/>
            </a:pPr>
            <a:fld id="{DFD14028-1D0A-4751-9DB3-2414C41102FE}" type="slidenum">
              <a:rPr lang="en-US" altLang="ko-KR" sz="800">
                <a:solidFill>
                  <a:srgbClr val="DA0000"/>
                </a:solidFill>
                <a:latin typeface="Tahoma" pitchFamily="34" charset="0"/>
                <a:cs typeface="Tahoma" pitchFamily="34" charset="0"/>
              </a:rPr>
              <a:pPr algn="ctr">
                <a:defRPr/>
              </a:pPr>
              <a:t>‹#›</a:t>
            </a:fld>
            <a:endParaRPr lang="en-US" altLang="ko-KR" sz="800" dirty="0">
              <a:solidFill>
                <a:srgbClr val="DA0000"/>
              </a:solidFill>
              <a:latin typeface="Tahoma" pitchFamily="34" charset="0"/>
              <a:cs typeface="Tahoma" pitchFamily="34" charset="0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 rot="5400000">
            <a:off x="9339284" y="6706112"/>
            <a:ext cx="792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8" r:id="rId2"/>
    <p:sldLayoutId id="2147483673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tags" Target="../tags/tag45.xml"/><Relationship Id="rId3" Type="http://schemas.openxmlformats.org/officeDocument/2006/relationships/tags" Target="../tags/tag22.xml"/><Relationship Id="rId21" Type="http://schemas.openxmlformats.org/officeDocument/2006/relationships/tags" Target="../tags/tag40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29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28" Type="http://schemas.openxmlformats.org/officeDocument/2006/relationships/tags" Target="../tags/tag47.xml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tags" Target="../tags/tag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메뉴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구성도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74270032"/>
              </p:ext>
            </p:extLst>
          </p:nvPr>
        </p:nvGraphicFramePr>
        <p:xfrm>
          <a:off x="157595" y="972772"/>
          <a:ext cx="6990917" cy="5788512"/>
        </p:xfrm>
        <a:graphic>
          <a:graphicData uri="http://schemas.openxmlformats.org/drawingml/2006/table">
            <a:tbl>
              <a:tblPr/>
              <a:tblGrid>
                <a:gridCol w="1228673"/>
                <a:gridCol w="1751994"/>
                <a:gridCol w="1228673"/>
                <a:gridCol w="1552904"/>
                <a:gridCol w="1228673"/>
              </a:tblGrid>
              <a:tr h="1607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1DEPTH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2DEPTH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3DEPTH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FUNCTION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</a:t>
                      </a: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60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AGV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현황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AGV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현황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층별 상세 현황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P110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알람패널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common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AGV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A120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A130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A140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A150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형상관리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건물관리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B120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B130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B140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맵관리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B220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B230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B240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B320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B330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B340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이력조회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알람이력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 이력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C120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보고서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D110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자산코드관리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E120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E130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E140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E220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E230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E240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리스트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E310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E320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E330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715" marR="6715" marT="6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E340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07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환경설정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Read/Update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F110</a:t>
                      </a:r>
                    </a:p>
                  </a:txBody>
                  <a:tcPr marL="6715" marR="6715" marT="671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25835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204548" y="473721"/>
            <a:ext cx="2453052" cy="211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</a:rPr>
              <a:t>AGV </a:t>
            </a:r>
            <a:r>
              <a:rPr lang="ko-KR" altLang="en-US" sz="900" dirty="0" smtClean="0">
                <a:solidFill>
                  <a:schemeClr val="tx1"/>
                </a:solidFill>
              </a:rPr>
              <a:t>현황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467350" y="1042468"/>
            <a:ext cx="1693206" cy="13439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 smtClean="0">
                <a:solidFill>
                  <a:schemeClr val="tx1"/>
                </a:solidFill>
              </a:rPr>
              <a:t>회원가입 </a:t>
            </a:r>
            <a:r>
              <a:rPr lang="en-US" altLang="ko-KR" sz="900" dirty="0" smtClean="0">
                <a:solidFill>
                  <a:schemeClr val="tx1"/>
                </a:solidFill>
              </a:rPr>
              <a:t>| </a:t>
            </a:r>
            <a:r>
              <a:rPr lang="ko-KR" altLang="en-US" sz="900" dirty="0" smtClean="0">
                <a:solidFill>
                  <a:schemeClr val="tx1"/>
                </a:solidFill>
              </a:rPr>
              <a:t>사용안내 </a:t>
            </a:r>
            <a:r>
              <a:rPr lang="en-US" altLang="ko-KR" sz="900" dirty="0" smtClean="0">
                <a:solidFill>
                  <a:schemeClr val="tx1"/>
                </a:solidFill>
              </a:rPr>
              <a:t>| </a:t>
            </a:r>
            <a:r>
              <a:rPr lang="ko-KR" altLang="en-US" sz="900" dirty="0" smtClean="0">
                <a:solidFill>
                  <a:schemeClr val="tx1"/>
                </a:solidFill>
              </a:rPr>
              <a:t>로그인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5506" y="984298"/>
            <a:ext cx="1266093" cy="30653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400" i="1" dirty="0" smtClean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ATION</a:t>
            </a:r>
            <a:endParaRPr lang="ko-KR" altLang="en-US" sz="2400" i="1" dirty="0" smtClean="0">
              <a:solidFill>
                <a:srgbClr val="0070C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8" name="Check" hidden="1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707832" y="5129857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noFill/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5" name="Breadcrumbs"/>
          <p:cNvSpPr>
            <a:spLocks/>
          </p:cNvSpPr>
          <p:nvPr/>
        </p:nvSpPr>
        <p:spPr bwMode="auto">
          <a:xfrm>
            <a:off x="6450261" y="1869461"/>
            <a:ext cx="648749" cy="203932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635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2400" rIns="72000" bIns="3240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900" b="1" dirty="0" smtClean="0">
                <a:solidFill>
                  <a:srgbClr val="7F7F7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AGV </a:t>
            </a:r>
            <a:r>
              <a:rPr lang="ko-KR" altLang="en-US" sz="900" b="1" dirty="0" smtClean="0">
                <a:solidFill>
                  <a:srgbClr val="7F7F7F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현황</a:t>
            </a:r>
            <a:endParaRPr lang="en-US" sz="900" b="1" dirty="0">
              <a:solidFill>
                <a:srgbClr val="7F7F7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6" name="Line"/>
          <p:cNvCxnSpPr>
            <a:cxnSpLocks/>
          </p:cNvCxnSpPr>
          <p:nvPr/>
        </p:nvCxnSpPr>
        <p:spPr bwMode="auto">
          <a:xfrm>
            <a:off x="248419" y="1390650"/>
            <a:ext cx="6890935" cy="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201893" y="1465105"/>
            <a:ext cx="1207806" cy="30653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mtClean="0">
                <a:solidFill>
                  <a:srgbClr val="7F7F7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AGV </a:t>
            </a:r>
            <a:r>
              <a:rPr lang="ko-KR" altLang="en-US" dirty="0" smtClean="0">
                <a:solidFill>
                  <a:srgbClr val="7F7F7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현황</a:t>
            </a:r>
          </a:p>
        </p:txBody>
      </p:sp>
      <p:sp>
        <p:nvSpPr>
          <p:cNvPr id="151" name="직사각형 150"/>
          <p:cNvSpPr/>
          <p:nvPr/>
        </p:nvSpPr>
        <p:spPr>
          <a:xfrm>
            <a:off x="201893" y="5571860"/>
            <a:ext cx="6937461" cy="102024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201893" y="5358070"/>
            <a:ext cx="6937461" cy="2429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AGV Alarm</a:t>
            </a:r>
            <a:endParaRPr lang="ko-KR" altLang="en-US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0" name="타원 179"/>
          <p:cNvSpPr/>
          <p:nvPr/>
        </p:nvSpPr>
        <p:spPr>
          <a:xfrm>
            <a:off x="105506" y="5265750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7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2577091" y="1666556"/>
            <a:ext cx="2295403" cy="2294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</a:rPr>
              <a:t>검색어를</a:t>
            </a:r>
            <a:r>
              <a:rPr lang="ko-KR" altLang="en-US" sz="800" dirty="0" smtClean="0">
                <a:solidFill>
                  <a:schemeClr val="tx1"/>
                </a:solidFill>
              </a:rPr>
              <a:t> 입력 해 주세요</a:t>
            </a:r>
            <a:r>
              <a:rPr lang="en-US" altLang="ko-KR" sz="800" dirty="0" smtClean="0">
                <a:solidFill>
                  <a:schemeClr val="tx1"/>
                </a:solidFill>
              </a:rPr>
              <a:t>.</a:t>
            </a:r>
            <a:endParaRPr lang="ko-KR" altLang="en-US" sz="800" dirty="0" smtClean="0">
              <a:solidFill>
                <a:schemeClr val="tx1"/>
              </a:solidFill>
            </a:endParaRPr>
          </a:p>
        </p:txBody>
      </p:sp>
      <p:sp>
        <p:nvSpPr>
          <p:cNvPr id="183" name="Button"/>
          <p:cNvSpPr>
            <a:spLocks/>
          </p:cNvSpPr>
          <p:nvPr/>
        </p:nvSpPr>
        <p:spPr bwMode="auto">
          <a:xfrm>
            <a:off x="4941346" y="1670148"/>
            <a:ext cx="564060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SEARCH</a:t>
            </a:r>
          </a:p>
        </p:txBody>
      </p:sp>
      <p:grpSp>
        <p:nvGrpSpPr>
          <p:cNvPr id="212" name="그룹 211"/>
          <p:cNvGrpSpPr/>
          <p:nvPr/>
        </p:nvGrpSpPr>
        <p:grpSpPr>
          <a:xfrm>
            <a:off x="2981682" y="4932315"/>
            <a:ext cx="2751717" cy="239259"/>
            <a:chOff x="3597718" y="4096240"/>
            <a:chExt cx="2751717" cy="239259"/>
          </a:xfrm>
        </p:grpSpPr>
        <p:grpSp>
          <p:nvGrpSpPr>
            <p:cNvPr id="201" name="그룹 200"/>
            <p:cNvGrpSpPr/>
            <p:nvPr/>
          </p:nvGrpSpPr>
          <p:grpSpPr>
            <a:xfrm>
              <a:off x="3597718" y="4115292"/>
              <a:ext cx="311304" cy="215444"/>
              <a:chOff x="3597718" y="4115292"/>
              <a:chExt cx="311304" cy="215444"/>
            </a:xfrm>
          </p:grpSpPr>
          <p:sp>
            <p:nvSpPr>
              <p:cNvPr id="190" name="직사각형 189"/>
              <p:cNvSpPr/>
              <p:nvPr/>
            </p:nvSpPr>
            <p:spPr>
              <a:xfrm>
                <a:off x="3657601" y="4141178"/>
                <a:ext cx="175270" cy="17527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800" dirty="0" smtClean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1" name="직사각형 190"/>
              <p:cNvSpPr/>
              <p:nvPr/>
            </p:nvSpPr>
            <p:spPr>
              <a:xfrm>
                <a:off x="3597718" y="4115292"/>
                <a:ext cx="311304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</a:rPr>
                  <a:t>|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  <a:latin typeface="맑은 고딕" panose="020B0503020000020004" pitchFamily="50" charset="-127"/>
                  </a:rPr>
                  <a:t>◁</a:t>
                </a:r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92" name="직사각형 191"/>
            <p:cNvSpPr/>
            <p:nvPr/>
          </p:nvSpPr>
          <p:spPr>
            <a:xfrm>
              <a:off x="3881270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◁</a:t>
              </a:r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4104939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4328608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5" name="직사각형 194"/>
            <p:cNvSpPr/>
            <p:nvPr/>
          </p:nvSpPr>
          <p:spPr>
            <a:xfrm>
              <a:off x="4552277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3</a:t>
              </a:r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6" name="직사각형 195"/>
            <p:cNvSpPr/>
            <p:nvPr/>
          </p:nvSpPr>
          <p:spPr>
            <a:xfrm>
              <a:off x="4775946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</a:rPr>
                <a:t>4</a:t>
              </a:r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직사각형 197"/>
            <p:cNvSpPr/>
            <p:nvPr/>
          </p:nvSpPr>
          <p:spPr>
            <a:xfrm>
              <a:off x="5223284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</a:rPr>
                <a:t>8</a:t>
              </a:r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9" name="직사각형 198"/>
            <p:cNvSpPr/>
            <p:nvPr/>
          </p:nvSpPr>
          <p:spPr>
            <a:xfrm>
              <a:off x="5446953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</a:rPr>
                <a:t>9</a:t>
              </a:r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0" name="직사각형 199"/>
            <p:cNvSpPr/>
            <p:nvPr/>
          </p:nvSpPr>
          <p:spPr>
            <a:xfrm>
              <a:off x="5670622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6" name="직사각형 205"/>
            <p:cNvSpPr/>
            <p:nvPr/>
          </p:nvSpPr>
          <p:spPr>
            <a:xfrm>
              <a:off x="5604488" y="4120055"/>
              <a:ext cx="29687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8" name="직사각형 207"/>
            <p:cNvSpPr/>
            <p:nvPr/>
          </p:nvSpPr>
          <p:spPr>
            <a:xfrm>
              <a:off x="6106148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9" name="직사각형 208"/>
            <p:cNvSpPr/>
            <p:nvPr/>
          </p:nvSpPr>
          <p:spPr>
            <a:xfrm>
              <a:off x="6038131" y="4115292"/>
              <a:ext cx="311304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▷</a:t>
              </a:r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</a:rPr>
                <a:t>|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0" name="직사각형 209"/>
            <p:cNvSpPr/>
            <p:nvPr/>
          </p:nvSpPr>
          <p:spPr>
            <a:xfrm>
              <a:off x="5883630" y="4141178"/>
              <a:ext cx="175270" cy="17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▷</a:t>
              </a:r>
              <a:endParaRPr lang="ko-KR" altLang="en-US" sz="800" dirty="0" smtClean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1" name="직사각형 210"/>
            <p:cNvSpPr/>
            <p:nvPr/>
          </p:nvSpPr>
          <p:spPr>
            <a:xfrm>
              <a:off x="4957246" y="4096240"/>
              <a:ext cx="260008" cy="215444"/>
            </a:xfrm>
            <a:prstGeom prst="rect">
              <a:avLst/>
            </a:prstGeom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3" name="타원 52"/>
          <p:cNvSpPr/>
          <p:nvPr/>
        </p:nvSpPr>
        <p:spPr>
          <a:xfrm>
            <a:off x="6352078" y="1770606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3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43" name="Section"/>
          <p:cNvSpPr/>
          <p:nvPr>
            <p:custDataLst>
              <p:tags r:id="rId2"/>
            </p:custDataLst>
          </p:nvPr>
        </p:nvSpPr>
        <p:spPr>
          <a:xfrm>
            <a:off x="201893" y="1924302"/>
            <a:ext cx="121366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AGV </a:t>
            </a:r>
            <a:r>
              <a:rPr lang="ko-KR" altLang="en-US" sz="900" b="1" dirty="0" smtClean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현황</a:t>
            </a:r>
            <a:endParaRPr lang="en-US" sz="900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Chevron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16200000">
            <a:off x="1296503" y="2022537"/>
            <a:ext cx="73025" cy="41275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Section"/>
          <p:cNvSpPr/>
          <p:nvPr>
            <p:custDataLst>
              <p:tags r:id="rId4"/>
            </p:custDataLst>
          </p:nvPr>
        </p:nvSpPr>
        <p:spPr>
          <a:xfrm>
            <a:off x="201893" y="2162045"/>
            <a:ext cx="121366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AGV </a:t>
            </a:r>
            <a:r>
              <a:rPr lang="ko-KR" altLang="en-US" sz="90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관리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Chevron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 rot="16200000">
            <a:off x="1296503" y="2260280"/>
            <a:ext cx="73025" cy="41275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Section"/>
          <p:cNvSpPr/>
          <p:nvPr>
            <p:custDataLst>
              <p:tags r:id="rId6"/>
            </p:custDataLst>
          </p:nvPr>
        </p:nvSpPr>
        <p:spPr>
          <a:xfrm>
            <a:off x="201893" y="2399789"/>
            <a:ext cx="121366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형상관리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Section"/>
          <p:cNvSpPr/>
          <p:nvPr>
            <p:custDataLst>
              <p:tags r:id="rId7"/>
            </p:custDataLst>
          </p:nvPr>
        </p:nvSpPr>
        <p:spPr>
          <a:xfrm>
            <a:off x="201893" y="2634639"/>
            <a:ext cx="121366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이력조회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Chevron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 rot="16200000">
            <a:off x="1296503" y="2732874"/>
            <a:ext cx="73025" cy="41275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Section"/>
          <p:cNvSpPr/>
          <p:nvPr>
            <p:custDataLst>
              <p:tags r:id="rId9"/>
            </p:custDataLst>
          </p:nvPr>
        </p:nvSpPr>
        <p:spPr>
          <a:xfrm>
            <a:off x="201893" y="2876150"/>
            <a:ext cx="121366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보고서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Chevron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 rot="16200000">
            <a:off x="1296503" y="2974385"/>
            <a:ext cx="73025" cy="41275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204548" y="44159"/>
            <a:ext cx="2453052" cy="211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</a:rPr>
              <a:t>A110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97012" y="1666556"/>
            <a:ext cx="1021162" cy="229454"/>
            <a:chOff x="1497012" y="1666556"/>
            <a:chExt cx="1021162" cy="229454"/>
          </a:xfrm>
        </p:grpSpPr>
        <p:sp>
          <p:nvSpPr>
            <p:cNvPr id="65" name="직사각형 64"/>
            <p:cNvSpPr/>
            <p:nvPr/>
          </p:nvSpPr>
          <p:spPr>
            <a:xfrm>
              <a:off x="1497012" y="1666556"/>
              <a:ext cx="792559" cy="2294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 smtClea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건물</a:t>
              </a:r>
              <a:r>
                <a:rPr lang="ko-KR" altLang="en-US" sz="9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명</a:t>
              </a: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289571" y="1666556"/>
              <a:ext cx="228603" cy="2294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" name="Chevron"/>
            <p:cNvSpPr>
              <a:spLocks noChangeAspect="1"/>
            </p:cNvSpPr>
            <p:nvPr>
              <p:custDataLst>
                <p:tags r:id="rId16"/>
              </p:custDataLst>
            </p:nvPr>
          </p:nvSpPr>
          <p:spPr bwMode="auto">
            <a:xfrm>
              <a:off x="2369317" y="1756007"/>
              <a:ext cx="73025" cy="4127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8" name="타원 67"/>
          <p:cNvSpPr/>
          <p:nvPr/>
        </p:nvSpPr>
        <p:spPr>
          <a:xfrm>
            <a:off x="1397125" y="1590838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2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88253" y="1869710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1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2981682" y="4877832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6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78" name="Chevron"/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 rot="16200000">
            <a:off x="1296503" y="2489971"/>
            <a:ext cx="73025" cy="41275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63297660"/>
              </p:ext>
            </p:extLst>
          </p:nvPr>
        </p:nvGraphicFramePr>
        <p:xfrm>
          <a:off x="1508226" y="2069776"/>
          <a:ext cx="5590782" cy="2018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589"/>
                <a:gridCol w="483577"/>
                <a:gridCol w="659423"/>
                <a:gridCol w="571500"/>
                <a:gridCol w="557345"/>
                <a:gridCol w="548116"/>
                <a:gridCol w="548116"/>
                <a:gridCol w="548116"/>
              </a:tblGrid>
              <a:tr h="24441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건물명 </a:t>
                      </a: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▼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층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상세현황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상태정보</a:t>
                      </a:r>
                      <a:endParaRPr lang="en-US" altLang="ko-KR" sz="9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9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82738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Critical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Major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Minor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solidFill>
                            <a:schemeClr val="tx1"/>
                          </a:solidFill>
                        </a:rPr>
                        <a:t>미등록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827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큰</a:t>
                      </a: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 </a:t>
                      </a: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건물</a:t>
                      </a: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큰</a:t>
                      </a: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 </a:t>
                      </a: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건물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큰</a:t>
                      </a: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 </a:t>
                      </a: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건물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3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큰</a:t>
                      </a: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 </a:t>
                      </a: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건물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10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60" name="Cutout"/>
          <p:cNvGrpSpPr/>
          <p:nvPr/>
        </p:nvGrpSpPr>
        <p:grpSpPr>
          <a:xfrm rot="16200000">
            <a:off x="4185141" y="831234"/>
            <a:ext cx="239713" cy="561596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1" name="Fill"/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Border"/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3" name="Button"/>
          <p:cNvSpPr>
            <a:spLocks/>
          </p:cNvSpPr>
          <p:nvPr/>
        </p:nvSpPr>
        <p:spPr bwMode="auto">
          <a:xfrm>
            <a:off x="3729959" y="2621601"/>
            <a:ext cx="527455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endParaRPr lang="en-US" sz="8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1415907" y="2017496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4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80" name="Button"/>
          <p:cNvSpPr>
            <a:spLocks/>
          </p:cNvSpPr>
          <p:nvPr/>
        </p:nvSpPr>
        <p:spPr bwMode="auto">
          <a:xfrm>
            <a:off x="3729959" y="3820659"/>
            <a:ext cx="527455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endParaRPr lang="en-US" sz="8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244860" y="254977"/>
            <a:ext cx="25937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1. LNB </a:t>
            </a:r>
            <a:r>
              <a:rPr lang="ko-KR" altLang="en-US" sz="900" dirty="0" smtClean="0"/>
              <a:t>메뉴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마우스오버</a:t>
            </a:r>
            <a:r>
              <a:rPr lang="en-US" altLang="ko-KR" sz="900" dirty="0" smtClean="0"/>
              <a:t>: </a:t>
            </a:r>
            <a:r>
              <a:rPr lang="ko-KR" altLang="en-US" sz="900" dirty="0" smtClean="0"/>
              <a:t>효과 없음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클릭</a:t>
            </a:r>
            <a:r>
              <a:rPr lang="en-US" altLang="ko-KR" sz="900" dirty="0" smtClean="0"/>
              <a:t>: </a:t>
            </a:r>
            <a:r>
              <a:rPr lang="ko-KR" altLang="en-US" sz="900" dirty="0" smtClean="0"/>
              <a:t>텍스트 볼드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색상 변경</a:t>
            </a:r>
            <a:endParaRPr lang="en-US" altLang="ko-KR" sz="900" dirty="0" smtClean="0"/>
          </a:p>
          <a:p>
            <a:r>
              <a:rPr lang="en-US" altLang="ko-KR" sz="900" dirty="0" smtClean="0"/>
              <a:t> </a:t>
            </a:r>
            <a:endParaRPr lang="en-US" altLang="ko-KR" sz="900" dirty="0"/>
          </a:p>
          <a:p>
            <a:r>
              <a:rPr lang="en-US" altLang="ko-KR" sz="900" dirty="0" smtClean="0"/>
              <a:t>2. </a:t>
            </a:r>
            <a:r>
              <a:rPr lang="ko-KR" altLang="en-US" sz="900" dirty="0" smtClean="0"/>
              <a:t>건물명 검색 바</a:t>
            </a:r>
            <a:endParaRPr lang="en-US" altLang="ko-KR" sz="900" dirty="0" smtClean="0"/>
          </a:p>
          <a:p>
            <a:r>
              <a:rPr lang="en-US" altLang="ko-KR" sz="900" dirty="0" smtClean="0"/>
              <a:t>- </a:t>
            </a:r>
            <a:r>
              <a:rPr lang="ko-KR" altLang="en-US" sz="900" dirty="0" smtClean="0"/>
              <a:t>검색 옵션</a:t>
            </a:r>
            <a:r>
              <a:rPr lang="en-US" altLang="ko-KR" sz="900" dirty="0" smtClean="0"/>
              <a:t>: </a:t>
            </a:r>
            <a:r>
              <a:rPr lang="ko-KR" altLang="en-US" sz="900" dirty="0" smtClean="0"/>
              <a:t>건물명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주소</a:t>
            </a:r>
            <a:endParaRPr lang="en-US" altLang="ko-KR" sz="900" dirty="0" smtClean="0"/>
          </a:p>
          <a:p>
            <a:endParaRPr lang="en-US" altLang="ko-KR" sz="900" dirty="0"/>
          </a:p>
          <a:p>
            <a:r>
              <a:rPr lang="en-US" altLang="ko-KR" sz="900" dirty="0" smtClean="0"/>
              <a:t>3. </a:t>
            </a:r>
            <a:r>
              <a:rPr lang="ko-KR" altLang="en-US" sz="900" dirty="0" smtClean="0"/>
              <a:t>메뉴 경로</a:t>
            </a:r>
            <a:endParaRPr lang="en-US" altLang="ko-KR" sz="900" dirty="0" smtClean="0"/>
          </a:p>
          <a:p>
            <a:endParaRPr lang="en-US" altLang="ko-KR" sz="900" dirty="0"/>
          </a:p>
          <a:p>
            <a:r>
              <a:rPr lang="en-US" altLang="ko-KR" sz="900" dirty="0"/>
              <a:t>4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현황 테이블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공통</a:t>
            </a:r>
            <a:r>
              <a:rPr lang="en-US" altLang="ko-KR" sz="900" dirty="0" smtClean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각 건물</a:t>
            </a:r>
            <a:r>
              <a:rPr lang="en-US" altLang="ko-KR" sz="900" dirty="0" smtClean="0"/>
              <a:t>-</a:t>
            </a:r>
            <a:r>
              <a:rPr lang="ko-KR" altLang="en-US" sz="900" dirty="0" smtClean="0"/>
              <a:t>층별 </a:t>
            </a:r>
            <a:r>
              <a:rPr lang="en-US" altLang="ko-KR" sz="900" dirty="0" smtClean="0"/>
              <a:t>AGV</a:t>
            </a:r>
            <a:r>
              <a:rPr lang="ko-KR" altLang="en-US" sz="900" dirty="0" smtClean="0"/>
              <a:t> 현황을 안내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페이지당 </a:t>
            </a:r>
            <a:r>
              <a:rPr lang="en-US" altLang="ko-KR" sz="900" dirty="0" smtClean="0"/>
              <a:t>10</a:t>
            </a:r>
            <a:r>
              <a:rPr lang="ko-KR" altLang="en-US" sz="900" dirty="0" smtClean="0"/>
              <a:t>개의 데이터를 보여 줌</a:t>
            </a:r>
            <a:endParaRPr lang="en-US" altLang="ko-KR" sz="900" dirty="0" smtClean="0"/>
          </a:p>
          <a:p>
            <a:endParaRPr lang="en-US" altLang="ko-KR" sz="900" dirty="0" smtClean="0"/>
          </a:p>
          <a:p>
            <a:r>
              <a:rPr lang="en-US" altLang="ko-KR" sz="900" dirty="0"/>
              <a:t>5. </a:t>
            </a:r>
            <a:r>
              <a:rPr lang="ko-KR" altLang="en-US" sz="900" dirty="0"/>
              <a:t>층 별 상세 현황 링크</a:t>
            </a:r>
            <a:endParaRPr lang="en-US" altLang="ko-KR" sz="900" dirty="0"/>
          </a:p>
          <a:p>
            <a:pPr marL="171450" indent="-171450">
              <a:buFontTx/>
              <a:buChar char="-"/>
            </a:pPr>
            <a:r>
              <a:rPr lang="en-US" altLang="ko-KR" sz="900" dirty="0" smtClean="0"/>
              <a:t>map </a:t>
            </a:r>
            <a:r>
              <a:rPr lang="ko-KR" altLang="en-US" sz="900" dirty="0" smtClean="0"/>
              <a:t>버튼을 누르면 팝업으로 정보 보여줌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다중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창 호출 가능 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endParaRPr lang="en-US" altLang="ko-KR" sz="900" dirty="0"/>
          </a:p>
          <a:p>
            <a:r>
              <a:rPr lang="en-US" altLang="ko-KR" sz="900" dirty="0" smtClean="0"/>
              <a:t>6. </a:t>
            </a:r>
            <a:r>
              <a:rPr lang="ko-KR" altLang="en-US" sz="900" dirty="0" err="1" smtClean="0"/>
              <a:t>페이징</a:t>
            </a:r>
            <a:r>
              <a:rPr lang="ko-KR" altLang="en-US" sz="900" dirty="0" smtClean="0"/>
              <a:t> 처리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공통</a:t>
            </a:r>
            <a:r>
              <a:rPr lang="en-US" altLang="ko-KR" sz="900" dirty="0" smtClean="0"/>
              <a:t>)</a:t>
            </a:r>
          </a:p>
          <a:p>
            <a:endParaRPr lang="en-US" altLang="ko-KR" sz="900" dirty="0" smtClean="0"/>
          </a:p>
          <a:p>
            <a:r>
              <a:rPr lang="en-US" altLang="ko-KR" sz="900" dirty="0"/>
              <a:t>7</a:t>
            </a:r>
            <a:r>
              <a:rPr lang="en-US" altLang="ko-KR" sz="900" dirty="0" smtClean="0"/>
              <a:t>. AVG Alarm(</a:t>
            </a:r>
            <a:r>
              <a:rPr lang="ko-KR" altLang="en-US" sz="900" dirty="0" smtClean="0"/>
              <a:t>공통</a:t>
            </a:r>
            <a:r>
              <a:rPr lang="en-US" altLang="ko-KR" sz="900" dirty="0" smtClean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900" dirty="0" smtClean="0"/>
              <a:t>AVG</a:t>
            </a:r>
            <a:r>
              <a:rPr lang="ko-KR" altLang="en-US" sz="900" dirty="0" smtClean="0"/>
              <a:t>와 관련된 </a:t>
            </a:r>
            <a:r>
              <a:rPr lang="ko-KR" altLang="en-US" sz="900" dirty="0" err="1" smtClean="0"/>
              <a:t>알람을</a:t>
            </a:r>
            <a:r>
              <a:rPr lang="ko-KR" altLang="en-US" sz="900" dirty="0" smtClean="0"/>
              <a:t> 표시해 주며 공통으로 화면 하단에 노출</a:t>
            </a:r>
            <a:endParaRPr lang="ko-KR" altLang="en-US" sz="900" dirty="0"/>
          </a:p>
        </p:txBody>
      </p:sp>
      <p:sp>
        <p:nvSpPr>
          <p:cNvPr id="82" name="타원 81"/>
          <p:cNvSpPr/>
          <p:nvPr/>
        </p:nvSpPr>
        <p:spPr>
          <a:xfrm>
            <a:off x="3620687" y="2558685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5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4095276" y="2571044"/>
            <a:ext cx="342900" cy="149469"/>
          </a:xfrm>
          <a:prstGeom prst="roundRect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</a:rPr>
              <a:t>L1</a:t>
            </a:r>
            <a:endParaRPr lang="ko-KR" altLang="en-US" sz="800" b="1" dirty="0" smtClean="0">
              <a:solidFill>
                <a:schemeClr val="tx1"/>
              </a:solidFill>
            </a:endParaRPr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55917833"/>
              </p:ext>
            </p:extLst>
          </p:nvPr>
        </p:nvGraphicFramePr>
        <p:xfrm>
          <a:off x="7323992" y="5429635"/>
          <a:ext cx="2472598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370"/>
                <a:gridCol w="1980228"/>
              </a:tblGrid>
              <a:tr h="201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rgbClr val="7F7F7F"/>
                          </a:solidFill>
                        </a:rPr>
                        <a:t>Link</a:t>
                      </a:r>
                      <a:endParaRPr lang="ko-KR" altLang="en-US" sz="900" b="1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>
                          <a:solidFill>
                            <a:srgbClr val="7F7F7F"/>
                          </a:solidFill>
                        </a:rPr>
                        <a:t>이동 화면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13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P110(</a:t>
                      </a: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팝업</a:t>
                      </a: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132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2</a:t>
                      </a:r>
                      <a:endParaRPr lang="ko-KR" altLang="en-US" sz="9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132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3</a:t>
                      </a:r>
                      <a:endParaRPr lang="ko-KR" altLang="en-US" sz="9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132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4</a:t>
                      </a:r>
                      <a:endParaRPr lang="ko-KR" altLang="en-US" sz="9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0" name="Section"/>
          <p:cNvSpPr/>
          <p:nvPr>
            <p:custDataLst>
              <p:tags r:id="rId12"/>
            </p:custDataLst>
          </p:nvPr>
        </p:nvSpPr>
        <p:spPr>
          <a:xfrm>
            <a:off x="201893" y="3103922"/>
            <a:ext cx="121366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자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산관리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Chevron"/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 rot="16200000">
            <a:off x="1296503" y="3202157"/>
            <a:ext cx="73025" cy="41275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Section"/>
          <p:cNvSpPr/>
          <p:nvPr>
            <p:custDataLst>
              <p:tags r:id="rId14"/>
            </p:custDataLst>
          </p:nvPr>
        </p:nvSpPr>
        <p:spPr>
          <a:xfrm>
            <a:off x="201893" y="3341954"/>
            <a:ext cx="121366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환경설정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Chevron"/>
          <p:cNvSpPr>
            <a:spLocks noChangeAspect="1"/>
          </p:cNvSpPr>
          <p:nvPr>
            <p:custDataLst>
              <p:tags r:id="rId15"/>
            </p:custDataLst>
          </p:nvPr>
        </p:nvSpPr>
        <p:spPr bwMode="auto">
          <a:xfrm rot="16200000">
            <a:off x="1296503" y="3440189"/>
            <a:ext cx="73025" cy="41275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Button"/>
          <p:cNvSpPr>
            <a:spLocks/>
          </p:cNvSpPr>
          <p:nvPr/>
        </p:nvSpPr>
        <p:spPr bwMode="auto">
          <a:xfrm>
            <a:off x="3729959" y="2914360"/>
            <a:ext cx="527455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endParaRPr lang="en-US" sz="8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9" name="Button"/>
          <p:cNvSpPr>
            <a:spLocks/>
          </p:cNvSpPr>
          <p:nvPr/>
        </p:nvSpPr>
        <p:spPr bwMode="auto">
          <a:xfrm>
            <a:off x="3729959" y="3213235"/>
            <a:ext cx="527455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endParaRPr lang="en-US" sz="8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873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1204548" y="473721"/>
            <a:ext cx="2453052" cy="211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</a:rPr>
              <a:t>AGV </a:t>
            </a:r>
            <a:r>
              <a:rPr lang="ko-KR" altLang="en-US" sz="900" dirty="0" smtClean="0">
                <a:solidFill>
                  <a:schemeClr val="tx1"/>
                </a:solidFill>
              </a:rPr>
              <a:t>현황 </a:t>
            </a:r>
            <a:r>
              <a:rPr lang="en-US" altLang="ko-KR" sz="900" dirty="0" smtClean="0">
                <a:solidFill>
                  <a:schemeClr val="tx1"/>
                </a:solidFill>
              </a:rPr>
              <a:t>&gt; </a:t>
            </a:r>
            <a:r>
              <a:rPr lang="ko-KR" altLang="en-US" sz="900" dirty="0" smtClean="0">
                <a:solidFill>
                  <a:schemeClr val="tx1"/>
                </a:solidFill>
              </a:rPr>
              <a:t>층 별 상세현황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8" name="Check" hidden="1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707832" y="5129857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noFill/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204548" y="44159"/>
            <a:ext cx="2453052" cy="211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</a:rPr>
              <a:t>P110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44860" y="254977"/>
            <a:ext cx="259373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1. </a:t>
            </a:r>
            <a:r>
              <a:rPr lang="ko-KR" altLang="en-US" sz="900" dirty="0" smtClean="0"/>
              <a:t>해당</a:t>
            </a:r>
            <a:r>
              <a:rPr lang="en-US" altLang="ko-KR" sz="900" dirty="0" smtClean="0"/>
              <a:t> </a:t>
            </a:r>
            <a:r>
              <a:rPr lang="ko-KR" altLang="en-US" sz="900" dirty="0" smtClean="0"/>
              <a:t>층에 대한 정보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endParaRPr lang="en-US" altLang="ko-KR" sz="900" dirty="0" smtClean="0"/>
          </a:p>
          <a:p>
            <a:r>
              <a:rPr lang="en-US" altLang="ko-KR" sz="900" dirty="0" smtClean="0"/>
              <a:t>2. </a:t>
            </a:r>
            <a:r>
              <a:rPr lang="ko-KR" altLang="en-US" sz="900" dirty="0" smtClean="0"/>
              <a:t>해당 층에 존재 하는 </a:t>
            </a:r>
            <a:r>
              <a:rPr lang="en-US" altLang="ko-KR" sz="900" dirty="0" smtClean="0"/>
              <a:t>AGV </a:t>
            </a:r>
            <a:endParaRPr lang="en-US" altLang="ko-KR" sz="900" dirty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현재 </a:t>
            </a:r>
            <a:r>
              <a:rPr lang="en-US" altLang="ko-KR" sz="900" dirty="0" smtClean="0"/>
              <a:t>AGV </a:t>
            </a:r>
            <a:r>
              <a:rPr lang="ko-KR" altLang="en-US" sz="900" dirty="0" smtClean="0"/>
              <a:t>들의 위치 표시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en-US" altLang="ko-KR" sz="900" dirty="0" smtClean="0"/>
              <a:t>Alarm </a:t>
            </a:r>
            <a:r>
              <a:rPr lang="ko-KR" altLang="en-US" sz="900" dirty="0" smtClean="0"/>
              <a:t>등급별로 색상 표출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클릭한 </a:t>
            </a:r>
            <a:r>
              <a:rPr lang="en-US" altLang="ko-KR" sz="900" dirty="0" smtClean="0"/>
              <a:t>AGV</a:t>
            </a:r>
            <a:r>
              <a:rPr lang="ko-KR" altLang="en-US" sz="900" dirty="0" smtClean="0"/>
              <a:t>는 환경설정에서 설정한 색으로 표시</a:t>
            </a:r>
            <a:endParaRPr lang="en-US" altLang="ko-KR" sz="900" dirty="0"/>
          </a:p>
          <a:p>
            <a:endParaRPr lang="en-US" altLang="ko-KR" sz="900" dirty="0" smtClean="0"/>
          </a:p>
          <a:p>
            <a:r>
              <a:rPr lang="en-US" altLang="ko-KR" sz="900" dirty="0" smtClean="0"/>
              <a:t>3. </a:t>
            </a:r>
            <a:r>
              <a:rPr lang="ko-KR" altLang="en-US" sz="900" dirty="0" smtClean="0"/>
              <a:t>선택한 </a:t>
            </a:r>
            <a:r>
              <a:rPr lang="en-US" altLang="ko-KR" sz="900" dirty="0" smtClean="0"/>
              <a:t>AGV </a:t>
            </a:r>
            <a:r>
              <a:rPr lang="ko-KR" altLang="en-US" sz="900" dirty="0" smtClean="0"/>
              <a:t>상세 정보</a:t>
            </a:r>
            <a:endParaRPr lang="en-US" altLang="ko-KR" sz="900" dirty="0" smtClean="0"/>
          </a:p>
        </p:txBody>
      </p:sp>
      <p:sp>
        <p:nvSpPr>
          <p:cNvPr id="54" name="Window Body"/>
          <p:cNvSpPr/>
          <p:nvPr>
            <p:custDataLst>
              <p:tags r:id="rId2"/>
            </p:custDataLst>
          </p:nvPr>
        </p:nvSpPr>
        <p:spPr>
          <a:xfrm>
            <a:off x="323369" y="1402087"/>
            <a:ext cx="5901585" cy="428653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itle Bar"/>
          <p:cNvSpPr/>
          <p:nvPr>
            <p:custDataLst>
              <p:tags r:id="rId3"/>
            </p:custDataLst>
          </p:nvPr>
        </p:nvSpPr>
        <p:spPr>
          <a:xfrm>
            <a:off x="323371" y="1123376"/>
            <a:ext cx="5901584" cy="2808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Browser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40727" y="1552938"/>
            <a:ext cx="5581650" cy="402370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 rotWithShape="1">
          <a:blip r:embed="rId5" cstate="print"/>
          <a:srcRect l="8849" t="6769" r="8481" b="5954"/>
          <a:stretch/>
        </p:blipFill>
        <p:spPr>
          <a:xfrm>
            <a:off x="1101435" y="2024729"/>
            <a:ext cx="4447043" cy="3098844"/>
          </a:xfrm>
          <a:prstGeom prst="rect">
            <a:avLst/>
          </a:prstGeom>
        </p:spPr>
      </p:pic>
      <p:graphicFrame>
        <p:nvGraphicFramePr>
          <p:cNvPr id="71" name="표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38140308"/>
              </p:ext>
            </p:extLst>
          </p:nvPr>
        </p:nvGraphicFramePr>
        <p:xfrm>
          <a:off x="540725" y="1624294"/>
          <a:ext cx="5581651" cy="282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46"/>
                <a:gridCol w="1974760"/>
                <a:gridCol w="773366"/>
                <a:gridCol w="419033"/>
                <a:gridCol w="391098"/>
                <a:gridCol w="391098"/>
                <a:gridCol w="391098"/>
                <a:gridCol w="453952"/>
              </a:tblGrid>
              <a:tr h="2827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위치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00 </a:t>
                      </a: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건물 </a:t>
                      </a: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1</a:t>
                      </a: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층</a:t>
                      </a: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상태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2" name="타원 71"/>
          <p:cNvSpPr/>
          <p:nvPr/>
        </p:nvSpPr>
        <p:spPr>
          <a:xfrm>
            <a:off x="559089" y="1533446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1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852800368"/>
              </p:ext>
            </p:extLst>
          </p:nvPr>
        </p:nvGraphicFramePr>
        <p:xfrm>
          <a:off x="559088" y="5218291"/>
          <a:ext cx="5563288" cy="282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959"/>
                <a:gridCol w="912109"/>
                <a:gridCol w="578210"/>
                <a:gridCol w="810987"/>
                <a:gridCol w="687478"/>
                <a:gridCol w="561924"/>
                <a:gridCol w="732945"/>
                <a:gridCol w="643676"/>
              </a:tblGrid>
              <a:tr h="2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AGV </a:t>
                      </a:r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명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rgbClr val="7F7F7F"/>
                          </a:solidFill>
                        </a:rPr>
                        <a:t>AGV - 001</a:t>
                      </a:r>
                      <a:endParaRPr lang="ko-KR" altLang="en-US" sz="900" b="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MAC</a:t>
                      </a:r>
                      <a:endParaRPr lang="ko-KR" altLang="en-US" sz="9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solidFill>
                            <a:srgbClr val="7F7F7F"/>
                          </a:solidFill>
                        </a:rPr>
                        <a:t>A1:11:22:33</a:t>
                      </a:r>
                      <a:endParaRPr lang="ko-KR" altLang="en-US" sz="900" b="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운영상태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</a:rPr>
                        <a:t>정지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rgbClr val="7F7F7F"/>
                          </a:solidFill>
                        </a:rPr>
                        <a:t>관리상태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</a:rPr>
                        <a:t>대기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5" name="타원 74"/>
          <p:cNvSpPr/>
          <p:nvPr/>
        </p:nvSpPr>
        <p:spPr>
          <a:xfrm>
            <a:off x="540727" y="5123573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3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3172870" y="2129480"/>
            <a:ext cx="83621" cy="83621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4831779" y="2559113"/>
            <a:ext cx="83621" cy="83621"/>
          </a:xfrm>
          <a:prstGeom prst="ellipse">
            <a:avLst/>
          </a:prstGeom>
          <a:solidFill>
            <a:srgbClr val="FFFF0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1115909" y="3445325"/>
            <a:ext cx="83621" cy="83621"/>
          </a:xfrm>
          <a:prstGeom prst="ellips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2289389" y="3879665"/>
            <a:ext cx="83621" cy="83621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3089249" y="3361704"/>
            <a:ext cx="83621" cy="83621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2734444" y="4238004"/>
            <a:ext cx="83621" cy="83621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4266064" y="3148344"/>
            <a:ext cx="83621" cy="83621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4349685" y="4350049"/>
            <a:ext cx="83621" cy="83621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90" name="타원 89"/>
          <p:cNvSpPr/>
          <p:nvPr/>
        </p:nvSpPr>
        <p:spPr>
          <a:xfrm>
            <a:off x="3694365" y="4571029"/>
            <a:ext cx="83621" cy="83621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3736175" y="2742229"/>
            <a:ext cx="83621" cy="83621"/>
          </a:xfrm>
          <a:prstGeom prst="ellipse">
            <a:avLst/>
          </a:prstGeom>
          <a:solidFill>
            <a:srgbClr val="92D05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92" name="GPS"/>
          <p:cNvSpPr>
            <a:spLocks noChangeAspect="1" noEditPoints="1"/>
          </p:cNvSpPr>
          <p:nvPr/>
        </p:nvSpPr>
        <p:spPr bwMode="auto">
          <a:xfrm>
            <a:off x="3135297" y="2096016"/>
            <a:ext cx="165100" cy="163513"/>
          </a:xfrm>
          <a:custGeom>
            <a:avLst/>
            <a:gdLst>
              <a:gd name="T0" fmla="*/ 338 w 677"/>
              <a:gd name="T1" fmla="*/ 0 h 672"/>
              <a:gd name="T2" fmla="*/ 325 w 677"/>
              <a:gd name="T3" fmla="*/ 14 h 672"/>
              <a:gd name="T4" fmla="*/ 325 w 677"/>
              <a:gd name="T5" fmla="*/ 41 h 672"/>
              <a:gd name="T6" fmla="*/ 46 w 677"/>
              <a:gd name="T7" fmla="*/ 320 h 672"/>
              <a:gd name="T8" fmla="*/ 19 w 677"/>
              <a:gd name="T9" fmla="*/ 320 h 672"/>
              <a:gd name="T10" fmla="*/ 19 w 677"/>
              <a:gd name="T11" fmla="*/ 347 h 672"/>
              <a:gd name="T12" fmla="*/ 46 w 677"/>
              <a:gd name="T13" fmla="*/ 347 h 672"/>
              <a:gd name="T14" fmla="*/ 325 w 677"/>
              <a:gd name="T15" fmla="*/ 627 h 672"/>
              <a:gd name="T16" fmla="*/ 325 w 677"/>
              <a:gd name="T17" fmla="*/ 654 h 672"/>
              <a:gd name="T18" fmla="*/ 352 w 677"/>
              <a:gd name="T19" fmla="*/ 654 h 672"/>
              <a:gd name="T20" fmla="*/ 352 w 677"/>
              <a:gd name="T21" fmla="*/ 627 h 672"/>
              <a:gd name="T22" fmla="*/ 632 w 677"/>
              <a:gd name="T23" fmla="*/ 347 h 672"/>
              <a:gd name="T24" fmla="*/ 659 w 677"/>
              <a:gd name="T25" fmla="*/ 347 h 672"/>
              <a:gd name="T26" fmla="*/ 659 w 677"/>
              <a:gd name="T27" fmla="*/ 320 h 672"/>
              <a:gd name="T28" fmla="*/ 632 w 677"/>
              <a:gd name="T29" fmla="*/ 320 h 672"/>
              <a:gd name="T30" fmla="*/ 352 w 677"/>
              <a:gd name="T31" fmla="*/ 41 h 672"/>
              <a:gd name="T32" fmla="*/ 352 w 677"/>
              <a:gd name="T33" fmla="*/ 14 h 672"/>
              <a:gd name="T34" fmla="*/ 338 w 677"/>
              <a:gd name="T35" fmla="*/ 0 h 672"/>
              <a:gd name="T36" fmla="*/ 325 w 677"/>
              <a:gd name="T37" fmla="*/ 67 h 672"/>
              <a:gd name="T38" fmla="*/ 325 w 677"/>
              <a:gd name="T39" fmla="*/ 120 h 672"/>
              <a:gd name="T40" fmla="*/ 352 w 677"/>
              <a:gd name="T41" fmla="*/ 120 h 672"/>
              <a:gd name="T42" fmla="*/ 352 w 677"/>
              <a:gd name="T43" fmla="*/ 67 h 672"/>
              <a:gd name="T44" fmla="*/ 605 w 677"/>
              <a:gd name="T45" fmla="*/ 320 h 672"/>
              <a:gd name="T46" fmla="*/ 552 w 677"/>
              <a:gd name="T47" fmla="*/ 320 h 672"/>
              <a:gd name="T48" fmla="*/ 552 w 677"/>
              <a:gd name="T49" fmla="*/ 347 h 672"/>
              <a:gd name="T50" fmla="*/ 605 w 677"/>
              <a:gd name="T51" fmla="*/ 347 h 672"/>
              <a:gd name="T52" fmla="*/ 352 w 677"/>
              <a:gd name="T53" fmla="*/ 600 h 672"/>
              <a:gd name="T54" fmla="*/ 352 w 677"/>
              <a:gd name="T55" fmla="*/ 547 h 672"/>
              <a:gd name="T56" fmla="*/ 338 w 677"/>
              <a:gd name="T57" fmla="*/ 533 h 672"/>
              <a:gd name="T58" fmla="*/ 325 w 677"/>
              <a:gd name="T59" fmla="*/ 547 h 672"/>
              <a:gd name="T60" fmla="*/ 325 w 677"/>
              <a:gd name="T61" fmla="*/ 600 h 672"/>
              <a:gd name="T62" fmla="*/ 72 w 677"/>
              <a:gd name="T63" fmla="*/ 347 h 672"/>
              <a:gd name="T64" fmla="*/ 125 w 677"/>
              <a:gd name="T65" fmla="*/ 347 h 672"/>
              <a:gd name="T66" fmla="*/ 125 w 677"/>
              <a:gd name="T67" fmla="*/ 320 h 672"/>
              <a:gd name="T68" fmla="*/ 72 w 677"/>
              <a:gd name="T69" fmla="*/ 320 h 672"/>
              <a:gd name="T70" fmla="*/ 325 w 677"/>
              <a:gd name="T71" fmla="*/ 67 h 672"/>
              <a:gd name="T72" fmla="*/ 339 w 677"/>
              <a:gd name="T73" fmla="*/ 240 h 672"/>
              <a:gd name="T74" fmla="*/ 245 w 677"/>
              <a:gd name="T75" fmla="*/ 334 h 672"/>
              <a:gd name="T76" fmla="*/ 339 w 677"/>
              <a:gd name="T77" fmla="*/ 427 h 672"/>
              <a:gd name="T78" fmla="*/ 432 w 677"/>
              <a:gd name="T79" fmla="*/ 334 h 672"/>
              <a:gd name="T80" fmla="*/ 339 w 677"/>
              <a:gd name="T81" fmla="*/ 240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77" h="672">
                <a:moveTo>
                  <a:pt x="338" y="0"/>
                </a:moveTo>
                <a:cubicBezTo>
                  <a:pt x="331" y="0"/>
                  <a:pt x="325" y="6"/>
                  <a:pt x="325" y="14"/>
                </a:cubicBezTo>
                <a:lnTo>
                  <a:pt x="325" y="41"/>
                </a:lnTo>
                <a:cubicBezTo>
                  <a:pt x="174" y="47"/>
                  <a:pt x="52" y="169"/>
                  <a:pt x="46" y="320"/>
                </a:cubicBezTo>
                <a:lnTo>
                  <a:pt x="19" y="320"/>
                </a:lnTo>
                <a:cubicBezTo>
                  <a:pt x="0" y="320"/>
                  <a:pt x="0" y="347"/>
                  <a:pt x="19" y="347"/>
                </a:cubicBezTo>
                <a:lnTo>
                  <a:pt x="46" y="347"/>
                </a:lnTo>
                <a:cubicBezTo>
                  <a:pt x="52" y="498"/>
                  <a:pt x="174" y="620"/>
                  <a:pt x="325" y="627"/>
                </a:cubicBezTo>
                <a:lnTo>
                  <a:pt x="325" y="654"/>
                </a:lnTo>
                <a:cubicBezTo>
                  <a:pt x="325" y="672"/>
                  <a:pt x="352" y="672"/>
                  <a:pt x="352" y="654"/>
                </a:cubicBezTo>
                <a:lnTo>
                  <a:pt x="352" y="627"/>
                </a:lnTo>
                <a:cubicBezTo>
                  <a:pt x="503" y="620"/>
                  <a:pt x="625" y="498"/>
                  <a:pt x="632" y="347"/>
                </a:cubicBezTo>
                <a:lnTo>
                  <a:pt x="659" y="347"/>
                </a:lnTo>
                <a:cubicBezTo>
                  <a:pt x="677" y="347"/>
                  <a:pt x="677" y="320"/>
                  <a:pt x="659" y="320"/>
                </a:cubicBezTo>
                <a:lnTo>
                  <a:pt x="632" y="320"/>
                </a:lnTo>
                <a:cubicBezTo>
                  <a:pt x="625" y="169"/>
                  <a:pt x="503" y="47"/>
                  <a:pt x="352" y="41"/>
                </a:cubicBezTo>
                <a:lnTo>
                  <a:pt x="352" y="14"/>
                </a:lnTo>
                <a:cubicBezTo>
                  <a:pt x="352" y="6"/>
                  <a:pt x="346" y="0"/>
                  <a:pt x="338" y="0"/>
                </a:cubicBezTo>
                <a:close/>
                <a:moveTo>
                  <a:pt x="325" y="67"/>
                </a:moveTo>
                <a:cubicBezTo>
                  <a:pt x="326" y="84"/>
                  <a:pt x="325" y="103"/>
                  <a:pt x="325" y="120"/>
                </a:cubicBezTo>
                <a:cubicBezTo>
                  <a:pt x="325" y="138"/>
                  <a:pt x="352" y="138"/>
                  <a:pt x="352" y="120"/>
                </a:cubicBezTo>
                <a:lnTo>
                  <a:pt x="352" y="67"/>
                </a:lnTo>
                <a:cubicBezTo>
                  <a:pt x="489" y="74"/>
                  <a:pt x="598" y="184"/>
                  <a:pt x="605" y="320"/>
                </a:cubicBezTo>
                <a:lnTo>
                  <a:pt x="552" y="320"/>
                </a:lnTo>
                <a:cubicBezTo>
                  <a:pt x="534" y="320"/>
                  <a:pt x="534" y="347"/>
                  <a:pt x="552" y="347"/>
                </a:cubicBezTo>
                <a:lnTo>
                  <a:pt x="605" y="347"/>
                </a:lnTo>
                <a:cubicBezTo>
                  <a:pt x="598" y="484"/>
                  <a:pt x="489" y="593"/>
                  <a:pt x="352" y="600"/>
                </a:cubicBezTo>
                <a:lnTo>
                  <a:pt x="352" y="547"/>
                </a:lnTo>
                <a:cubicBezTo>
                  <a:pt x="352" y="539"/>
                  <a:pt x="346" y="533"/>
                  <a:pt x="338" y="533"/>
                </a:cubicBezTo>
                <a:cubicBezTo>
                  <a:pt x="331" y="534"/>
                  <a:pt x="325" y="540"/>
                  <a:pt x="325" y="547"/>
                </a:cubicBezTo>
                <a:lnTo>
                  <a:pt x="325" y="600"/>
                </a:lnTo>
                <a:cubicBezTo>
                  <a:pt x="188" y="593"/>
                  <a:pt x="79" y="484"/>
                  <a:pt x="72" y="347"/>
                </a:cubicBezTo>
                <a:lnTo>
                  <a:pt x="125" y="347"/>
                </a:lnTo>
                <a:cubicBezTo>
                  <a:pt x="143" y="347"/>
                  <a:pt x="143" y="320"/>
                  <a:pt x="125" y="320"/>
                </a:cubicBezTo>
                <a:lnTo>
                  <a:pt x="72" y="320"/>
                </a:lnTo>
                <a:cubicBezTo>
                  <a:pt x="79" y="184"/>
                  <a:pt x="188" y="74"/>
                  <a:pt x="325" y="67"/>
                </a:cubicBezTo>
                <a:close/>
                <a:moveTo>
                  <a:pt x="339" y="240"/>
                </a:moveTo>
                <a:cubicBezTo>
                  <a:pt x="287" y="240"/>
                  <a:pt x="245" y="282"/>
                  <a:pt x="245" y="334"/>
                </a:cubicBezTo>
                <a:cubicBezTo>
                  <a:pt x="245" y="385"/>
                  <a:pt x="287" y="427"/>
                  <a:pt x="339" y="427"/>
                </a:cubicBezTo>
                <a:cubicBezTo>
                  <a:pt x="390" y="427"/>
                  <a:pt x="432" y="385"/>
                  <a:pt x="432" y="334"/>
                </a:cubicBezTo>
                <a:cubicBezTo>
                  <a:pt x="432" y="282"/>
                  <a:pt x="390" y="240"/>
                  <a:pt x="339" y="240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3" name="타원 92"/>
          <p:cNvSpPr/>
          <p:nvPr/>
        </p:nvSpPr>
        <p:spPr>
          <a:xfrm>
            <a:off x="2996818" y="2066098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2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94" name="Close"/>
          <p:cNvSpPr>
            <a:spLocks noChangeAspect="1" noEditPoints="1"/>
          </p:cNvSpPr>
          <p:nvPr/>
        </p:nvSpPr>
        <p:spPr bwMode="auto">
          <a:xfrm>
            <a:off x="5960452" y="1182021"/>
            <a:ext cx="161925" cy="163512"/>
          </a:xfrm>
          <a:custGeom>
            <a:avLst/>
            <a:gdLst>
              <a:gd name="T0" fmla="*/ 333 w 667"/>
              <a:gd name="T1" fmla="*/ 0 h 667"/>
              <a:gd name="T2" fmla="*/ 0 w 667"/>
              <a:gd name="T3" fmla="*/ 334 h 667"/>
              <a:gd name="T4" fmla="*/ 333 w 667"/>
              <a:gd name="T5" fmla="*/ 667 h 667"/>
              <a:gd name="T6" fmla="*/ 667 w 667"/>
              <a:gd name="T7" fmla="*/ 334 h 667"/>
              <a:gd name="T8" fmla="*/ 333 w 667"/>
              <a:gd name="T9" fmla="*/ 0 h 667"/>
              <a:gd name="T10" fmla="*/ 333 w 667"/>
              <a:gd name="T11" fmla="*/ 27 h 667"/>
              <a:gd name="T12" fmla="*/ 640 w 667"/>
              <a:gd name="T13" fmla="*/ 334 h 667"/>
              <a:gd name="T14" fmla="*/ 333 w 667"/>
              <a:gd name="T15" fmla="*/ 640 h 667"/>
              <a:gd name="T16" fmla="*/ 27 w 667"/>
              <a:gd name="T17" fmla="*/ 334 h 667"/>
              <a:gd name="T18" fmla="*/ 333 w 667"/>
              <a:gd name="T19" fmla="*/ 27 h 667"/>
              <a:gd name="T20" fmla="*/ 210 w 667"/>
              <a:gd name="T21" fmla="*/ 200 h 667"/>
              <a:gd name="T22" fmla="*/ 204 w 667"/>
              <a:gd name="T23" fmla="*/ 223 h 667"/>
              <a:gd name="T24" fmla="*/ 314 w 667"/>
              <a:gd name="T25" fmla="*/ 334 h 667"/>
              <a:gd name="T26" fmla="*/ 204 w 667"/>
              <a:gd name="T27" fmla="*/ 444 h 667"/>
              <a:gd name="T28" fmla="*/ 223 w 667"/>
              <a:gd name="T29" fmla="*/ 463 h 667"/>
              <a:gd name="T30" fmla="*/ 333 w 667"/>
              <a:gd name="T31" fmla="*/ 353 h 667"/>
              <a:gd name="T32" fmla="*/ 444 w 667"/>
              <a:gd name="T33" fmla="*/ 463 h 667"/>
              <a:gd name="T34" fmla="*/ 463 w 667"/>
              <a:gd name="T35" fmla="*/ 463 h 667"/>
              <a:gd name="T36" fmla="*/ 463 w 667"/>
              <a:gd name="T37" fmla="*/ 444 h 667"/>
              <a:gd name="T38" fmla="*/ 352 w 667"/>
              <a:gd name="T39" fmla="*/ 334 h 667"/>
              <a:gd name="T40" fmla="*/ 463 w 667"/>
              <a:gd name="T41" fmla="*/ 223 h 667"/>
              <a:gd name="T42" fmla="*/ 452 w 667"/>
              <a:gd name="T43" fmla="*/ 200 h 667"/>
              <a:gd name="T44" fmla="*/ 444 w 667"/>
              <a:gd name="T45" fmla="*/ 204 h 667"/>
              <a:gd name="T46" fmla="*/ 333 w 667"/>
              <a:gd name="T47" fmla="*/ 314 h 667"/>
              <a:gd name="T48" fmla="*/ 223 w 667"/>
              <a:gd name="T49" fmla="*/ 204 h 667"/>
              <a:gd name="T50" fmla="*/ 210 w 667"/>
              <a:gd name="T51" fmla="*/ 20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667" h="667">
                <a:moveTo>
                  <a:pt x="333" y="0"/>
                </a:moveTo>
                <a:cubicBezTo>
                  <a:pt x="149" y="0"/>
                  <a:pt x="0" y="150"/>
                  <a:pt x="0" y="334"/>
                </a:cubicBezTo>
                <a:cubicBezTo>
                  <a:pt x="0" y="518"/>
                  <a:pt x="149" y="667"/>
                  <a:pt x="333" y="667"/>
                </a:cubicBezTo>
                <a:cubicBezTo>
                  <a:pt x="517" y="667"/>
                  <a:pt x="667" y="518"/>
                  <a:pt x="667" y="334"/>
                </a:cubicBezTo>
                <a:cubicBezTo>
                  <a:pt x="667" y="150"/>
                  <a:pt x="517" y="0"/>
                  <a:pt x="333" y="0"/>
                </a:cubicBezTo>
                <a:close/>
                <a:moveTo>
                  <a:pt x="333" y="27"/>
                </a:moveTo>
                <a:cubicBezTo>
                  <a:pt x="503" y="27"/>
                  <a:pt x="640" y="164"/>
                  <a:pt x="640" y="334"/>
                </a:cubicBezTo>
                <a:cubicBezTo>
                  <a:pt x="640" y="503"/>
                  <a:pt x="503" y="640"/>
                  <a:pt x="333" y="640"/>
                </a:cubicBezTo>
                <a:cubicBezTo>
                  <a:pt x="164" y="640"/>
                  <a:pt x="27" y="503"/>
                  <a:pt x="27" y="334"/>
                </a:cubicBezTo>
                <a:cubicBezTo>
                  <a:pt x="27" y="164"/>
                  <a:pt x="164" y="27"/>
                  <a:pt x="333" y="27"/>
                </a:cubicBezTo>
                <a:close/>
                <a:moveTo>
                  <a:pt x="210" y="200"/>
                </a:moveTo>
                <a:cubicBezTo>
                  <a:pt x="201" y="202"/>
                  <a:pt x="196" y="217"/>
                  <a:pt x="204" y="223"/>
                </a:cubicBezTo>
                <a:lnTo>
                  <a:pt x="314" y="334"/>
                </a:lnTo>
                <a:lnTo>
                  <a:pt x="204" y="444"/>
                </a:lnTo>
                <a:cubicBezTo>
                  <a:pt x="191" y="457"/>
                  <a:pt x="210" y="476"/>
                  <a:pt x="223" y="463"/>
                </a:cubicBezTo>
                <a:lnTo>
                  <a:pt x="333" y="353"/>
                </a:lnTo>
                <a:lnTo>
                  <a:pt x="444" y="463"/>
                </a:lnTo>
                <a:cubicBezTo>
                  <a:pt x="449" y="468"/>
                  <a:pt x="458" y="468"/>
                  <a:pt x="463" y="463"/>
                </a:cubicBezTo>
                <a:cubicBezTo>
                  <a:pt x="468" y="458"/>
                  <a:pt x="468" y="449"/>
                  <a:pt x="463" y="444"/>
                </a:cubicBezTo>
                <a:lnTo>
                  <a:pt x="352" y="334"/>
                </a:lnTo>
                <a:lnTo>
                  <a:pt x="463" y="223"/>
                </a:lnTo>
                <a:cubicBezTo>
                  <a:pt x="472" y="214"/>
                  <a:pt x="465" y="198"/>
                  <a:pt x="452" y="200"/>
                </a:cubicBezTo>
                <a:cubicBezTo>
                  <a:pt x="449" y="201"/>
                  <a:pt x="446" y="202"/>
                  <a:pt x="444" y="204"/>
                </a:cubicBezTo>
                <a:lnTo>
                  <a:pt x="333" y="314"/>
                </a:lnTo>
                <a:lnTo>
                  <a:pt x="223" y="204"/>
                </a:lnTo>
                <a:cubicBezTo>
                  <a:pt x="219" y="199"/>
                  <a:pt x="213" y="200"/>
                  <a:pt x="210" y="200"/>
                </a:cubicBez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243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244860" y="254977"/>
            <a:ext cx="25937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smtClean="0"/>
              <a:t>1. </a:t>
            </a:r>
            <a:r>
              <a:rPr lang="ko-KR" altLang="en-US" sz="900" dirty="0" smtClean="0"/>
              <a:t>체크한 내역에 대한 액션 버튼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해지 버튼을 누르면 해지 </a:t>
            </a:r>
            <a:r>
              <a:rPr lang="ko-KR" altLang="en-US" sz="900" dirty="0"/>
              <a:t>사유를 적는 </a:t>
            </a:r>
            <a:r>
              <a:rPr lang="ko-KR" altLang="en-US" sz="900" dirty="0" smtClean="0"/>
              <a:t>해지 사유 팝업 노출</a:t>
            </a:r>
            <a:endParaRPr lang="en-US" altLang="ko-KR" sz="900" dirty="0"/>
          </a:p>
          <a:p>
            <a:pPr marL="171450" indent="-171450">
              <a:buFontTx/>
              <a:buChar char="-"/>
            </a:pPr>
            <a:r>
              <a:rPr lang="ko-KR" altLang="en-US" sz="900" dirty="0"/>
              <a:t>해지 </a:t>
            </a:r>
            <a:r>
              <a:rPr lang="ko-KR" altLang="en-US" sz="900" dirty="0" smtClean="0"/>
              <a:t>사유가 </a:t>
            </a:r>
            <a:r>
              <a:rPr lang="en-US" altLang="ko-KR" sz="900" dirty="0"/>
              <a:t>AGV </a:t>
            </a:r>
            <a:r>
              <a:rPr lang="ko-KR" altLang="en-US" sz="900" dirty="0"/>
              <a:t>이력에 </a:t>
            </a:r>
            <a:r>
              <a:rPr lang="ko-KR" altLang="en-US" sz="900" dirty="0" smtClean="0"/>
              <a:t>기록</a:t>
            </a:r>
            <a:endParaRPr lang="en-US" altLang="ko-KR" sz="900" dirty="0"/>
          </a:p>
          <a:p>
            <a:endParaRPr lang="en-US" altLang="ko-KR" sz="900" dirty="0" smtClean="0"/>
          </a:p>
          <a:p>
            <a:r>
              <a:rPr lang="en-US" altLang="ko-KR" sz="900" dirty="0" smtClean="0"/>
              <a:t>2. </a:t>
            </a:r>
            <a:r>
              <a:rPr lang="ko-KR" altLang="en-US" sz="900" dirty="0" smtClean="0"/>
              <a:t>필터 옵션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위치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등급</a:t>
            </a:r>
            <a:r>
              <a:rPr lang="en-US" altLang="ko-KR" sz="900" dirty="0" smtClean="0"/>
              <a:t>, AGV</a:t>
            </a:r>
            <a:r>
              <a:rPr lang="ko-KR" altLang="en-US" sz="900" dirty="0" smtClean="0"/>
              <a:t>명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발생 일 시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인지여부</a:t>
            </a:r>
            <a:endParaRPr lang="en-US" altLang="ko-KR" sz="900" dirty="0" smtClean="0"/>
          </a:p>
          <a:p>
            <a:endParaRPr lang="en-US" altLang="ko-KR" sz="900" dirty="0"/>
          </a:p>
          <a:p>
            <a:r>
              <a:rPr lang="en-US" altLang="ko-KR" sz="900" dirty="0" smtClean="0"/>
              <a:t>3. 2</a:t>
            </a:r>
            <a:r>
              <a:rPr lang="ko-KR" altLang="en-US" sz="900" dirty="0" smtClean="0"/>
              <a:t>차 필터 옵션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필터 옵션에 따라 나타나는 </a:t>
            </a:r>
            <a:r>
              <a:rPr lang="en-US" altLang="ko-KR" sz="900" dirty="0" smtClean="0"/>
              <a:t>2</a:t>
            </a:r>
            <a:r>
              <a:rPr lang="ko-KR" altLang="en-US" sz="900" dirty="0" smtClean="0"/>
              <a:t>차 옵션 </a:t>
            </a:r>
            <a:endParaRPr lang="en-US" altLang="ko-KR" sz="900" dirty="0" smtClean="0"/>
          </a:p>
          <a:p>
            <a:endParaRPr lang="en-US" altLang="ko-KR" sz="900" dirty="0" smtClean="0"/>
          </a:p>
          <a:p>
            <a:r>
              <a:rPr lang="en-US" altLang="ko-KR" sz="900" dirty="0"/>
              <a:t>4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발생한 메시지에 대한 정보</a:t>
            </a:r>
            <a:endParaRPr lang="en-US" altLang="ko-KR" sz="900" dirty="0"/>
          </a:p>
          <a:p>
            <a:endParaRPr lang="en-US" altLang="ko-KR" sz="900" dirty="0" smtClean="0"/>
          </a:p>
          <a:p>
            <a:r>
              <a:rPr lang="en-US" altLang="ko-KR" sz="900" dirty="0"/>
              <a:t>5</a:t>
            </a:r>
            <a:r>
              <a:rPr lang="en-US" altLang="ko-KR" sz="900" dirty="0" smtClean="0"/>
              <a:t>. </a:t>
            </a:r>
            <a:r>
              <a:rPr lang="ko-KR" altLang="en-US" sz="900" dirty="0" smtClean="0"/>
              <a:t>해지 사유 팝업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해지한 사유에 대해 기록하는 팝업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기록한 내용은 체크한 </a:t>
            </a:r>
            <a:r>
              <a:rPr lang="en-US" altLang="ko-KR" sz="900" dirty="0" smtClean="0"/>
              <a:t>AGV </a:t>
            </a:r>
            <a:r>
              <a:rPr lang="ko-KR" altLang="en-US" sz="900" dirty="0" smtClean="0"/>
              <a:t>이력에 저장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endParaRPr lang="en-US" altLang="ko-KR" sz="900" dirty="0"/>
          </a:p>
          <a:p>
            <a:r>
              <a:rPr lang="en-US" altLang="ko-KR" sz="900" dirty="0" smtClean="0"/>
              <a:t>6. </a:t>
            </a:r>
            <a:r>
              <a:rPr lang="ko-KR" altLang="en-US" sz="900" dirty="0" err="1" smtClean="0"/>
              <a:t>알람</a:t>
            </a:r>
            <a:r>
              <a:rPr lang="ko-KR" altLang="en-US" sz="900" dirty="0" smtClean="0"/>
              <a:t> 발생 시 팝업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r>
              <a:rPr lang="ko-KR" altLang="en-US" sz="900" dirty="0" smtClean="0"/>
              <a:t>환경 설정에서 </a:t>
            </a:r>
            <a:r>
              <a:rPr lang="ko-KR" altLang="en-US" sz="900" dirty="0" err="1" smtClean="0"/>
              <a:t>알람</a:t>
            </a:r>
            <a:r>
              <a:rPr lang="ko-KR" altLang="en-US" sz="900" dirty="0" smtClean="0"/>
              <a:t> 표출 </a:t>
            </a:r>
            <a:r>
              <a:rPr lang="en-US" altLang="ko-KR" sz="900" dirty="0" smtClean="0"/>
              <a:t>“</a:t>
            </a:r>
            <a:r>
              <a:rPr lang="ko-KR" altLang="en-US" sz="900" dirty="0" smtClean="0"/>
              <a:t>사용</a:t>
            </a:r>
            <a:r>
              <a:rPr lang="en-US" altLang="ko-KR" sz="900" dirty="0" smtClean="0"/>
              <a:t>” </a:t>
            </a:r>
            <a:r>
              <a:rPr lang="ko-KR" altLang="en-US" sz="900" dirty="0" smtClean="0"/>
              <a:t>설정 시 노출 </a:t>
            </a:r>
            <a:endParaRPr lang="en-US" altLang="ko-KR" sz="900" dirty="0" smtClean="0"/>
          </a:p>
          <a:p>
            <a:pPr marL="171450" indent="-171450">
              <a:buFontTx/>
              <a:buChar char="-"/>
            </a:pPr>
            <a:endParaRPr lang="en-US" altLang="ko-KR" sz="900" dirty="0" smtClean="0"/>
          </a:p>
          <a:p>
            <a:endParaRPr lang="en-US" altLang="ko-KR" sz="900" dirty="0" smtClean="0"/>
          </a:p>
          <a:p>
            <a:endParaRPr lang="en-US" altLang="ko-KR" sz="900" dirty="0"/>
          </a:p>
          <a:p>
            <a:r>
              <a:rPr lang="en-US" altLang="ko-KR" sz="900" dirty="0" smtClean="0"/>
              <a:t> </a:t>
            </a:r>
            <a:endParaRPr lang="ko-KR" altLang="en-US" sz="900" dirty="0"/>
          </a:p>
        </p:txBody>
      </p:sp>
      <p:sp>
        <p:nvSpPr>
          <p:cNvPr id="6" name="직사각형 5"/>
          <p:cNvSpPr/>
          <p:nvPr/>
        </p:nvSpPr>
        <p:spPr>
          <a:xfrm>
            <a:off x="1204548" y="473721"/>
            <a:ext cx="2453052" cy="211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</a:rPr>
              <a:t>AGV </a:t>
            </a:r>
            <a:r>
              <a:rPr lang="ko-KR" altLang="en-US" sz="900" dirty="0" err="1" smtClean="0">
                <a:solidFill>
                  <a:schemeClr val="tx1"/>
                </a:solidFill>
              </a:rPr>
              <a:t>알람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201893" y="1054986"/>
            <a:ext cx="6937461" cy="154872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201893" y="812068"/>
            <a:ext cx="6937461" cy="2429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AGV Alarm</a:t>
            </a:r>
            <a:endParaRPr lang="ko-KR" altLang="en-US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6752229"/>
              </p:ext>
            </p:extLst>
          </p:nvPr>
        </p:nvGraphicFramePr>
        <p:xfrm>
          <a:off x="288924" y="1425622"/>
          <a:ext cx="6569076" cy="1150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253"/>
                <a:gridCol w="1028700"/>
                <a:gridCol w="606669"/>
                <a:gridCol w="1143000"/>
                <a:gridCol w="1820008"/>
                <a:gridCol w="1547446"/>
              </a:tblGrid>
              <a:tr h="244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선택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발생 일시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등급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AGV </a:t>
                      </a:r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명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위치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상세 정보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2015-04-22 13:00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CRITICL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AGV</a:t>
                      </a:r>
                      <a:r>
                        <a:rPr lang="ko-KR" altLang="en-US" sz="800" b="0" dirty="0" smtClean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ko-KR" sz="800" b="0" dirty="0" smtClean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001</a:t>
                      </a:r>
                      <a:endParaRPr lang="ko-KR" altLang="en-US" sz="800" b="0" dirty="0">
                        <a:solidFill>
                          <a:srgbClr val="7F7F7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00 </a:t>
                      </a:r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건물 </a:t>
                      </a:r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12</a:t>
                      </a:r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층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OUT</a:t>
                      </a:r>
                      <a:r>
                        <a:rPr lang="ko-KR" altLang="en-US" sz="800" baseline="0" dirty="0" smtClean="0">
                          <a:solidFill>
                            <a:srgbClr val="7F7F7F"/>
                          </a:solidFill>
                        </a:rPr>
                        <a:t> </a:t>
                      </a:r>
                      <a:r>
                        <a:rPr lang="en-US" altLang="ko-KR" sz="800" baseline="0" dirty="0" smtClean="0">
                          <a:solidFill>
                            <a:srgbClr val="7F7F7F"/>
                          </a:solidFill>
                        </a:rPr>
                        <a:t>OF SERVICE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221767" y="1129440"/>
            <a:ext cx="75693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 smtClean="0"/>
              <a:t>체크내역 </a:t>
            </a:r>
            <a:r>
              <a:rPr lang="en-US" altLang="ko-KR" sz="900" b="1" dirty="0" smtClean="0"/>
              <a:t>: </a:t>
            </a:r>
            <a:endParaRPr lang="ko-KR" altLang="en-US" sz="900" b="1" dirty="0"/>
          </a:p>
        </p:txBody>
      </p:sp>
      <p:sp>
        <p:nvSpPr>
          <p:cNvPr id="118" name="Check" hidden="1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707832" y="5129857"/>
            <a:ext cx="88178" cy="89556"/>
          </a:xfrm>
          <a:custGeom>
            <a:avLst/>
            <a:gdLst>
              <a:gd name="T0" fmla="*/ 275 w 275"/>
              <a:gd name="T1" fmla="*/ 0 h 275"/>
              <a:gd name="T2" fmla="*/ 0 w 275"/>
              <a:gd name="T3" fmla="*/ 275 h 275"/>
              <a:gd name="T4" fmla="*/ 0 w 275"/>
              <a:gd name="T5" fmla="*/ 0 h 275"/>
              <a:gd name="T6" fmla="*/ 275 w 275"/>
              <a:gd name="T7" fmla="*/ 275 h 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5" h="275">
                <a:moveTo>
                  <a:pt x="275" y="0"/>
                </a:moveTo>
                <a:lnTo>
                  <a:pt x="0" y="275"/>
                </a:lnTo>
                <a:moveTo>
                  <a:pt x="0" y="0"/>
                </a:moveTo>
                <a:lnTo>
                  <a:pt x="275" y="275"/>
                </a:lnTo>
              </a:path>
            </a:pathLst>
          </a:custGeom>
          <a:noFill/>
          <a:ln w="6350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2420649" y="1129440"/>
            <a:ext cx="5661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 smtClean="0"/>
              <a:t>옵션 </a:t>
            </a:r>
            <a:r>
              <a:rPr lang="en-US" altLang="ko-KR" sz="900" b="1" dirty="0" smtClean="0"/>
              <a:t>:  </a:t>
            </a:r>
            <a:endParaRPr lang="ko-KR" altLang="en-US" sz="9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2898539" y="1144746"/>
            <a:ext cx="1148646" cy="242918"/>
            <a:chOff x="2898539" y="2393253"/>
            <a:chExt cx="1148646" cy="242918"/>
          </a:xfrm>
        </p:grpSpPr>
        <p:sp>
          <p:nvSpPr>
            <p:cNvPr id="122" name="직사각형 121"/>
            <p:cNvSpPr/>
            <p:nvPr/>
          </p:nvSpPr>
          <p:spPr>
            <a:xfrm>
              <a:off x="2898539" y="2393253"/>
              <a:ext cx="920044" cy="24291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 smtClea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ko-KR" altLang="en-US" sz="9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3818582" y="2393253"/>
              <a:ext cx="228603" cy="242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Chevron"/>
            <p:cNvSpPr>
              <a:spLocks noChangeAspect="1"/>
            </p:cNvSpPr>
            <p:nvPr>
              <p:custDataLst>
                <p:tags r:id="rId28"/>
              </p:custDataLst>
            </p:nvPr>
          </p:nvSpPr>
          <p:spPr bwMode="auto">
            <a:xfrm>
              <a:off x="3898328" y="2494074"/>
              <a:ext cx="73025" cy="4127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201893" y="2843180"/>
            <a:ext cx="3222246" cy="1507358"/>
            <a:chOff x="2522727" y="3808796"/>
            <a:chExt cx="3222246" cy="1507358"/>
          </a:xfrm>
        </p:grpSpPr>
        <p:grpSp>
          <p:nvGrpSpPr>
            <p:cNvPr id="53" name="Alert"/>
            <p:cNvGrpSpPr/>
            <p:nvPr>
              <p:custDataLst>
                <p:tags r:id="rId17"/>
              </p:custDataLst>
            </p:nvPr>
          </p:nvGrpSpPr>
          <p:grpSpPr>
            <a:xfrm>
              <a:off x="2522727" y="3808796"/>
              <a:ext cx="3222246" cy="1507358"/>
              <a:chOff x="595686" y="1261242"/>
              <a:chExt cx="3222246" cy="1507358"/>
            </a:xfrm>
          </p:grpSpPr>
          <p:sp>
            <p:nvSpPr>
              <p:cNvPr id="54" name="Window Body"/>
              <p:cNvSpPr/>
              <p:nvPr>
                <p:custDataLst>
                  <p:tags r:id="rId18"/>
                </p:custDataLst>
              </p:nvPr>
            </p:nvSpPr>
            <p:spPr>
              <a:xfrm>
                <a:off x="595686" y="1498986"/>
                <a:ext cx="3222246" cy="126961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Text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711385" y="1635819"/>
                <a:ext cx="2918684" cy="236227"/>
              </a:xfrm>
              <a:prstGeom prst="rect">
                <a:avLst/>
              </a:prstGeom>
              <a:noFill/>
            </p:spPr>
            <p:txBody>
              <a:bodyPr wrap="square" lIns="73152" tIns="36576" rIns="73152" bIns="36576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noProof="1" smtClean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알람 해지 사유를 입력 해 주세요</a:t>
                </a:r>
                <a:r>
                  <a:rPr lang="en-US" altLang="ko-KR" sz="900" noProof="1" smtClean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endParaRPr lang="en-US" sz="900" noProof="1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6" name="Title Bar"/>
              <p:cNvSpPr/>
              <p:nvPr>
                <p:custDataLst>
                  <p:tags r:id="rId20"/>
                </p:custDataLst>
              </p:nvPr>
            </p:nvSpPr>
            <p:spPr>
              <a:xfrm>
                <a:off x="595686" y="1261242"/>
                <a:ext cx="3222246" cy="237744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2286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900" dirty="0" smtClean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해지사유</a:t>
                </a:r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Close Button"/>
              <p:cNvSpPr>
                <a:spLocks noEditPoint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607048" y="1332489"/>
                <a:ext cx="98425" cy="95250"/>
              </a:xfrm>
              <a:custGeom>
                <a:avLst/>
                <a:gdLst>
                  <a:gd name="T0" fmla="*/ 254 w 254"/>
                  <a:gd name="T1" fmla="*/ 0 h 254"/>
                  <a:gd name="T2" fmla="*/ 0 w 254"/>
                  <a:gd name="T3" fmla="*/ 254 h 254"/>
                  <a:gd name="T4" fmla="*/ 0 w 254"/>
                  <a:gd name="T5" fmla="*/ 0 h 254"/>
                  <a:gd name="T6" fmla="*/ 254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254" y="0"/>
                    </a:moveTo>
                    <a:lnTo>
                      <a:pt x="0" y="254"/>
                    </a:lnTo>
                    <a:moveTo>
                      <a:pt x="0" y="0"/>
                    </a:moveTo>
                    <a:lnTo>
                      <a:pt x="254" y="254"/>
                    </a:lnTo>
                  </a:path>
                </a:pathLst>
              </a:custGeom>
              <a:noFill/>
              <a:ln w="9525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58" name="Icons"/>
              <p:cNvGrpSpPr/>
              <p:nvPr/>
            </p:nvGrpSpPr>
            <p:grpSpPr>
              <a:xfrm>
                <a:off x="773534" y="1670507"/>
                <a:ext cx="457200" cy="395287"/>
                <a:chOff x="773534" y="1670507"/>
                <a:chExt cx="457200" cy="395287"/>
              </a:xfrm>
            </p:grpSpPr>
            <p:sp>
              <p:nvSpPr>
                <p:cNvPr id="63" name="Info Icon" hidden="1"/>
                <p:cNvSpPr>
                  <a:spLocks noChangeAspect="1" noEditPoints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803697" y="1670507"/>
                  <a:ext cx="396875" cy="395287"/>
                </a:xfrm>
                <a:custGeom>
                  <a:avLst/>
                  <a:gdLst>
                    <a:gd name="T0" fmla="*/ 550 w 1101"/>
                    <a:gd name="T1" fmla="*/ 231 h 1101"/>
                    <a:gd name="T2" fmla="*/ 480 w 1101"/>
                    <a:gd name="T3" fmla="*/ 301 h 1101"/>
                    <a:gd name="T4" fmla="*/ 550 w 1101"/>
                    <a:gd name="T5" fmla="*/ 372 h 1101"/>
                    <a:gd name="T6" fmla="*/ 621 w 1101"/>
                    <a:gd name="T7" fmla="*/ 301 h 1101"/>
                    <a:gd name="T8" fmla="*/ 550 w 1101"/>
                    <a:gd name="T9" fmla="*/ 231 h 1101"/>
                    <a:gd name="T10" fmla="*/ 494 w 1101"/>
                    <a:gd name="T11" fmla="*/ 455 h 1101"/>
                    <a:gd name="T12" fmla="*/ 494 w 1101"/>
                    <a:gd name="T13" fmla="*/ 851 h 1101"/>
                    <a:gd name="T14" fmla="*/ 607 w 1101"/>
                    <a:gd name="T15" fmla="*/ 851 h 1101"/>
                    <a:gd name="T16" fmla="*/ 607 w 1101"/>
                    <a:gd name="T17" fmla="*/ 455 h 1101"/>
                    <a:gd name="T18" fmla="*/ 494 w 1101"/>
                    <a:gd name="T19" fmla="*/ 455 h 1101"/>
                    <a:gd name="T20" fmla="*/ 1101 w 1101"/>
                    <a:gd name="T21" fmla="*/ 551 h 1101"/>
                    <a:gd name="T22" fmla="*/ 550 w 1101"/>
                    <a:gd name="T23" fmla="*/ 1101 h 1101"/>
                    <a:gd name="T24" fmla="*/ 0 w 1101"/>
                    <a:gd name="T25" fmla="*/ 551 h 1101"/>
                    <a:gd name="T26" fmla="*/ 550 w 1101"/>
                    <a:gd name="T27" fmla="*/ 0 h 1101"/>
                    <a:gd name="T28" fmla="*/ 1101 w 1101"/>
                    <a:gd name="T29" fmla="*/ 551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101" h="1101">
                      <a:moveTo>
                        <a:pt x="550" y="231"/>
                      </a:moveTo>
                      <a:cubicBezTo>
                        <a:pt x="511" y="231"/>
                        <a:pt x="480" y="262"/>
                        <a:pt x="480" y="301"/>
                      </a:cubicBezTo>
                      <a:cubicBezTo>
                        <a:pt x="480" y="340"/>
                        <a:pt x="511" y="372"/>
                        <a:pt x="550" y="372"/>
                      </a:cubicBezTo>
                      <a:cubicBezTo>
                        <a:pt x="589" y="372"/>
                        <a:pt x="621" y="340"/>
                        <a:pt x="621" y="301"/>
                      </a:cubicBezTo>
                      <a:cubicBezTo>
                        <a:pt x="621" y="262"/>
                        <a:pt x="589" y="231"/>
                        <a:pt x="550" y="231"/>
                      </a:cubicBezTo>
                      <a:close/>
                      <a:moveTo>
                        <a:pt x="494" y="455"/>
                      </a:moveTo>
                      <a:lnTo>
                        <a:pt x="494" y="851"/>
                      </a:lnTo>
                      <a:lnTo>
                        <a:pt x="607" y="851"/>
                      </a:lnTo>
                      <a:lnTo>
                        <a:pt x="607" y="455"/>
                      </a:lnTo>
                      <a:lnTo>
                        <a:pt x="494" y="455"/>
                      </a:lnTo>
                      <a:close/>
                      <a:moveTo>
                        <a:pt x="1101" y="551"/>
                      </a:moveTo>
                      <a:cubicBezTo>
                        <a:pt x="1101" y="855"/>
                        <a:pt x="854" y="1101"/>
                        <a:pt x="550" y="1101"/>
                      </a:cubicBezTo>
                      <a:cubicBezTo>
                        <a:pt x="247" y="1101"/>
                        <a:pt x="0" y="855"/>
                        <a:pt x="0" y="551"/>
                      </a:cubicBezTo>
                      <a:cubicBezTo>
                        <a:pt x="0" y="247"/>
                        <a:pt x="247" y="0"/>
                        <a:pt x="550" y="0"/>
                      </a:cubicBezTo>
                      <a:cubicBezTo>
                        <a:pt x="854" y="0"/>
                        <a:pt x="1101" y="247"/>
                        <a:pt x="1101" y="551"/>
                      </a:cubicBezTo>
                      <a:close/>
                    </a:path>
                  </a:pathLst>
                </a:custGeom>
                <a:noFill/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4" name="Warning Icon" hidden="1"/>
                <p:cNvSpPr>
                  <a:spLocks noChangeAspect="1" noEditPoints="1"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773534" y="1670507"/>
                  <a:ext cx="457200" cy="395287"/>
                </a:xfrm>
                <a:custGeom>
                  <a:avLst/>
                  <a:gdLst>
                    <a:gd name="T0" fmla="*/ 1270 w 1270"/>
                    <a:gd name="T1" fmla="*/ 1101 h 1101"/>
                    <a:gd name="T2" fmla="*/ 0 w 1270"/>
                    <a:gd name="T3" fmla="*/ 1101 h 1101"/>
                    <a:gd name="T4" fmla="*/ 635 w 1270"/>
                    <a:gd name="T5" fmla="*/ 0 h 1101"/>
                    <a:gd name="T6" fmla="*/ 1270 w 1270"/>
                    <a:gd name="T7" fmla="*/ 1101 h 1101"/>
                    <a:gd name="T8" fmla="*/ 579 w 1270"/>
                    <a:gd name="T9" fmla="*/ 320 h 1101"/>
                    <a:gd name="T10" fmla="*/ 579 w 1270"/>
                    <a:gd name="T11" fmla="*/ 716 h 1101"/>
                    <a:gd name="T12" fmla="*/ 691 w 1270"/>
                    <a:gd name="T13" fmla="*/ 716 h 1101"/>
                    <a:gd name="T14" fmla="*/ 691 w 1270"/>
                    <a:gd name="T15" fmla="*/ 320 h 1101"/>
                    <a:gd name="T16" fmla="*/ 579 w 1270"/>
                    <a:gd name="T17" fmla="*/ 320 h 1101"/>
                    <a:gd name="T18" fmla="*/ 635 w 1270"/>
                    <a:gd name="T19" fmla="*/ 799 h 1101"/>
                    <a:gd name="T20" fmla="*/ 564 w 1270"/>
                    <a:gd name="T21" fmla="*/ 870 h 1101"/>
                    <a:gd name="T22" fmla="*/ 635 w 1270"/>
                    <a:gd name="T23" fmla="*/ 940 h 1101"/>
                    <a:gd name="T24" fmla="*/ 706 w 1270"/>
                    <a:gd name="T25" fmla="*/ 870 h 1101"/>
                    <a:gd name="T26" fmla="*/ 635 w 1270"/>
                    <a:gd name="T27" fmla="*/ 799 h 1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270" h="1101">
                      <a:moveTo>
                        <a:pt x="1270" y="1101"/>
                      </a:moveTo>
                      <a:lnTo>
                        <a:pt x="0" y="1101"/>
                      </a:lnTo>
                      <a:lnTo>
                        <a:pt x="635" y="0"/>
                      </a:lnTo>
                      <a:lnTo>
                        <a:pt x="1270" y="1101"/>
                      </a:lnTo>
                      <a:close/>
                      <a:moveTo>
                        <a:pt x="579" y="320"/>
                      </a:moveTo>
                      <a:lnTo>
                        <a:pt x="579" y="716"/>
                      </a:lnTo>
                      <a:lnTo>
                        <a:pt x="691" y="716"/>
                      </a:lnTo>
                      <a:lnTo>
                        <a:pt x="691" y="320"/>
                      </a:lnTo>
                      <a:lnTo>
                        <a:pt x="579" y="320"/>
                      </a:lnTo>
                      <a:close/>
                      <a:moveTo>
                        <a:pt x="635" y="799"/>
                      </a:moveTo>
                      <a:cubicBezTo>
                        <a:pt x="596" y="799"/>
                        <a:pt x="564" y="831"/>
                        <a:pt x="564" y="870"/>
                      </a:cubicBezTo>
                      <a:cubicBezTo>
                        <a:pt x="564" y="909"/>
                        <a:pt x="596" y="940"/>
                        <a:pt x="635" y="940"/>
                      </a:cubicBezTo>
                      <a:cubicBezTo>
                        <a:pt x="674" y="940"/>
                        <a:pt x="706" y="909"/>
                        <a:pt x="706" y="870"/>
                      </a:cubicBezTo>
                      <a:cubicBezTo>
                        <a:pt x="706" y="831"/>
                        <a:pt x="674" y="799"/>
                        <a:pt x="635" y="799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5" name="Error Icon" hidden="1"/>
                <p:cNvSpPr>
                  <a:spLocks noChangeAspect="1" noEditPoints="1"/>
                </p:cNvSpPr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802903" y="1670507"/>
                  <a:ext cx="398463" cy="395287"/>
                </a:xfrm>
                <a:custGeom>
                  <a:avLst/>
                  <a:gdLst>
                    <a:gd name="T0" fmla="*/ 1101 w 1101"/>
                    <a:gd name="T1" fmla="*/ 778 h 1100"/>
                    <a:gd name="T2" fmla="*/ 778 w 1101"/>
                    <a:gd name="T3" fmla="*/ 1100 h 1100"/>
                    <a:gd name="T4" fmla="*/ 322 w 1101"/>
                    <a:gd name="T5" fmla="*/ 1100 h 1100"/>
                    <a:gd name="T6" fmla="*/ 0 w 1101"/>
                    <a:gd name="T7" fmla="*/ 778 h 1100"/>
                    <a:gd name="T8" fmla="*/ 0 w 1101"/>
                    <a:gd name="T9" fmla="*/ 322 h 1100"/>
                    <a:gd name="T10" fmla="*/ 322 w 1101"/>
                    <a:gd name="T11" fmla="*/ 0 h 1100"/>
                    <a:gd name="T12" fmla="*/ 778 w 1101"/>
                    <a:gd name="T13" fmla="*/ 0 h 1100"/>
                    <a:gd name="T14" fmla="*/ 1101 w 1101"/>
                    <a:gd name="T15" fmla="*/ 322 h 1100"/>
                    <a:gd name="T16" fmla="*/ 1101 w 1101"/>
                    <a:gd name="T17" fmla="*/ 778 h 1100"/>
                    <a:gd name="T18" fmla="*/ 380 w 1101"/>
                    <a:gd name="T19" fmla="*/ 300 h 1100"/>
                    <a:gd name="T20" fmla="*/ 301 w 1101"/>
                    <a:gd name="T21" fmla="*/ 380 h 1100"/>
                    <a:gd name="T22" fmla="*/ 470 w 1101"/>
                    <a:gd name="T23" fmla="*/ 550 h 1100"/>
                    <a:gd name="T24" fmla="*/ 301 w 1101"/>
                    <a:gd name="T25" fmla="*/ 719 h 1100"/>
                    <a:gd name="T26" fmla="*/ 380 w 1101"/>
                    <a:gd name="T27" fmla="*/ 799 h 1100"/>
                    <a:gd name="T28" fmla="*/ 550 w 1101"/>
                    <a:gd name="T29" fmla="*/ 629 h 1100"/>
                    <a:gd name="T30" fmla="*/ 720 w 1101"/>
                    <a:gd name="T31" fmla="*/ 799 h 1100"/>
                    <a:gd name="T32" fmla="*/ 800 w 1101"/>
                    <a:gd name="T33" fmla="*/ 719 h 1100"/>
                    <a:gd name="T34" fmla="*/ 630 w 1101"/>
                    <a:gd name="T35" fmla="*/ 550 h 1100"/>
                    <a:gd name="T36" fmla="*/ 800 w 1101"/>
                    <a:gd name="T37" fmla="*/ 380 h 1100"/>
                    <a:gd name="T38" fmla="*/ 720 w 1101"/>
                    <a:gd name="T39" fmla="*/ 300 h 1100"/>
                    <a:gd name="T40" fmla="*/ 550 w 1101"/>
                    <a:gd name="T41" fmla="*/ 470 h 1100"/>
                    <a:gd name="T42" fmla="*/ 380 w 1101"/>
                    <a:gd name="T43" fmla="*/ 300 h 1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1101" h="1100">
                      <a:moveTo>
                        <a:pt x="1101" y="778"/>
                      </a:moveTo>
                      <a:lnTo>
                        <a:pt x="778" y="1100"/>
                      </a:lnTo>
                      <a:lnTo>
                        <a:pt x="322" y="1100"/>
                      </a:lnTo>
                      <a:lnTo>
                        <a:pt x="0" y="778"/>
                      </a:lnTo>
                      <a:lnTo>
                        <a:pt x="0" y="322"/>
                      </a:lnTo>
                      <a:lnTo>
                        <a:pt x="322" y="0"/>
                      </a:lnTo>
                      <a:lnTo>
                        <a:pt x="778" y="0"/>
                      </a:lnTo>
                      <a:lnTo>
                        <a:pt x="1101" y="322"/>
                      </a:lnTo>
                      <a:lnTo>
                        <a:pt x="1101" y="778"/>
                      </a:lnTo>
                      <a:close/>
                      <a:moveTo>
                        <a:pt x="380" y="300"/>
                      </a:moveTo>
                      <a:lnTo>
                        <a:pt x="301" y="380"/>
                      </a:lnTo>
                      <a:lnTo>
                        <a:pt x="470" y="550"/>
                      </a:lnTo>
                      <a:lnTo>
                        <a:pt x="301" y="719"/>
                      </a:lnTo>
                      <a:lnTo>
                        <a:pt x="380" y="799"/>
                      </a:lnTo>
                      <a:lnTo>
                        <a:pt x="550" y="629"/>
                      </a:lnTo>
                      <a:lnTo>
                        <a:pt x="720" y="799"/>
                      </a:lnTo>
                      <a:lnTo>
                        <a:pt x="800" y="719"/>
                      </a:lnTo>
                      <a:lnTo>
                        <a:pt x="630" y="550"/>
                      </a:lnTo>
                      <a:lnTo>
                        <a:pt x="800" y="380"/>
                      </a:lnTo>
                      <a:lnTo>
                        <a:pt x="720" y="300"/>
                      </a:lnTo>
                      <a:lnTo>
                        <a:pt x="550" y="470"/>
                      </a:lnTo>
                      <a:lnTo>
                        <a:pt x="380" y="300"/>
                      </a:lnTo>
                      <a:close/>
                    </a:path>
                  </a:pathLst>
                </a:custGeom>
                <a:noFill/>
                <a:ln w="6350" cap="rnd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59" name="Buttons"/>
              <p:cNvGrpSpPr/>
              <p:nvPr/>
            </p:nvGrpSpPr>
            <p:grpSpPr>
              <a:xfrm>
                <a:off x="1538287" y="2386471"/>
                <a:ext cx="2091779" cy="240384"/>
                <a:chOff x="1538287" y="2386471"/>
                <a:chExt cx="2091779" cy="240384"/>
              </a:xfrm>
            </p:grpSpPr>
            <p:sp>
              <p:nvSpPr>
                <p:cNvPr id="60" name="Button 1"/>
                <p:cNvSpPr>
                  <a:spLocks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>
                  <a:off x="2967037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900" dirty="0" smtClean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OK</a:t>
                  </a:r>
                  <a:endParaRPr lang="en-US" sz="9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1" name="Button 2" hidden="1"/>
                <p:cNvSpPr>
                  <a:spLocks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2252662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900" dirty="0" smtClean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Cancel</a:t>
                  </a:r>
                  <a:endParaRPr lang="en-US" sz="9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2" name="Button 3" hidden="1"/>
                <p:cNvSpPr>
                  <a:spLocks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1538287" y="2386471"/>
                  <a:ext cx="663029" cy="240384"/>
                </a:xfrm>
                <a:prstGeom prst="roundRect">
                  <a:avLst>
                    <a:gd name="adj" fmla="val 8776"/>
                  </a:avLst>
                </a:prstGeom>
                <a:solidFill>
                  <a:srgbClr val="FFFFFF"/>
                </a:solidFill>
                <a:ln w="6350" cap="flat" cmpd="sng" algn="ctr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900" dirty="0" smtClean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Abort</a:t>
                  </a:r>
                  <a:endParaRPr lang="en-US" sz="9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8" name="직사각형 7"/>
            <p:cNvSpPr/>
            <p:nvPr/>
          </p:nvSpPr>
          <p:spPr>
            <a:xfrm>
              <a:off x="2692851" y="4410677"/>
              <a:ext cx="2864255" cy="48142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800" err="1" smtClean="0">
                <a:solidFill>
                  <a:schemeClr val="tx1"/>
                </a:solidFill>
              </a:endParaRPr>
            </a:p>
          </p:txBody>
        </p:sp>
      </p:grpSp>
      <p:sp>
        <p:nvSpPr>
          <p:cNvPr id="68" name="타원 67"/>
          <p:cNvSpPr/>
          <p:nvPr/>
        </p:nvSpPr>
        <p:spPr>
          <a:xfrm>
            <a:off x="132953" y="1099499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1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2384986" y="1064264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2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95058" y="2741582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5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90" name="타원 89"/>
          <p:cNvSpPr/>
          <p:nvPr/>
        </p:nvSpPr>
        <p:spPr>
          <a:xfrm>
            <a:off x="643139" y="1575715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4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sp>
        <p:nvSpPr>
          <p:cNvPr id="98" name="직사각형 97"/>
          <p:cNvSpPr/>
          <p:nvPr/>
        </p:nvSpPr>
        <p:spPr>
          <a:xfrm rot="10800000">
            <a:off x="6930965" y="1419740"/>
            <a:ext cx="169594" cy="115348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Chevron"/>
          <p:cNvSpPr>
            <a:spLocks noChangeAspect="1"/>
          </p:cNvSpPr>
          <p:nvPr>
            <p:custDataLst>
              <p:tags r:id="rId2"/>
            </p:custDataLst>
          </p:nvPr>
        </p:nvSpPr>
        <p:spPr bwMode="auto">
          <a:xfrm>
            <a:off x="6969240" y="2501165"/>
            <a:ext cx="80887" cy="4571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Chevron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 rot="10800000">
            <a:off x="6969240" y="1436004"/>
            <a:ext cx="80887" cy="45719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직사각형 100"/>
          <p:cNvSpPr/>
          <p:nvPr/>
        </p:nvSpPr>
        <p:spPr>
          <a:xfrm rot="10800000">
            <a:off x="6969239" y="1588090"/>
            <a:ext cx="80888" cy="18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19801" y="1760354"/>
            <a:ext cx="131556" cy="131556"/>
            <a:chOff x="2620509" y="5570091"/>
            <a:chExt cx="131556" cy="131556"/>
          </a:xfrm>
        </p:grpSpPr>
        <p:sp>
          <p:nvSpPr>
            <p:cNvPr id="75" name="Box"/>
            <p:cNvSpPr/>
            <p:nvPr>
              <p:custDataLst>
                <p:tags r:id="rId15"/>
              </p:custDataLst>
            </p:nvPr>
          </p:nvSpPr>
          <p:spPr>
            <a:xfrm>
              <a:off x="2620509" y="557009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1" name="Check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2642198" y="5591091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3" name="Box"/>
          <p:cNvSpPr/>
          <p:nvPr>
            <p:custDataLst>
              <p:tags r:id="rId4"/>
            </p:custDataLst>
          </p:nvPr>
        </p:nvSpPr>
        <p:spPr>
          <a:xfrm>
            <a:off x="419801" y="2060322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Box"/>
          <p:cNvSpPr/>
          <p:nvPr>
            <p:custDataLst>
              <p:tags r:id="rId5"/>
            </p:custDataLst>
          </p:nvPr>
        </p:nvSpPr>
        <p:spPr>
          <a:xfrm>
            <a:off x="419801" y="235334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Button"/>
          <p:cNvSpPr>
            <a:spLocks/>
          </p:cNvSpPr>
          <p:nvPr/>
        </p:nvSpPr>
        <p:spPr bwMode="auto">
          <a:xfrm>
            <a:off x="905860" y="1124123"/>
            <a:ext cx="40116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인지</a:t>
            </a:r>
            <a:endParaRPr lang="en-US" sz="8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Button"/>
          <p:cNvSpPr>
            <a:spLocks/>
          </p:cNvSpPr>
          <p:nvPr/>
        </p:nvSpPr>
        <p:spPr bwMode="auto">
          <a:xfrm>
            <a:off x="1372224" y="1124123"/>
            <a:ext cx="401161" cy="225862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해</a:t>
            </a:r>
            <a:r>
              <a:rPr lang="ko-KR" altLang="en-US" sz="8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지</a:t>
            </a:r>
            <a:endParaRPr lang="en-US" sz="8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1204548" y="44159"/>
            <a:ext cx="2453052" cy="211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</a:rPr>
              <a:t>Common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898539" y="1385360"/>
            <a:ext cx="920044" cy="147502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위치</a:t>
            </a:r>
            <a:endParaRPr lang="en-US" altLang="ko-KR" sz="900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altLang="ko-KR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altLang="en-US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등급</a:t>
            </a:r>
            <a:endParaRPr lang="en-US" altLang="ko-KR" sz="900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altLang="ko-KR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altLang="ko-KR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AGV </a:t>
            </a:r>
            <a:r>
              <a:rPr lang="ko-KR" altLang="en-US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명</a:t>
            </a:r>
            <a:endParaRPr lang="en-US" altLang="ko-KR" sz="900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altLang="ko-KR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altLang="en-US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발생 일 시</a:t>
            </a:r>
            <a:endParaRPr lang="en-US" altLang="ko-KR" sz="900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altLang="ko-KR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ko-KR" altLang="en-US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인지여부</a:t>
            </a:r>
            <a:endParaRPr lang="en-US" altLang="ko-KR" sz="900" dirty="0" smtClean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Section"/>
          <p:cNvSpPr/>
          <p:nvPr>
            <p:custDataLst>
              <p:tags r:id="rId6"/>
            </p:custDataLst>
          </p:nvPr>
        </p:nvSpPr>
        <p:spPr>
          <a:xfrm>
            <a:off x="2907007" y="2017873"/>
            <a:ext cx="911575" cy="237744"/>
          </a:xfrm>
          <a:prstGeom prst="rect">
            <a:avLst/>
          </a:prstGeom>
          <a:solidFill>
            <a:srgbClr val="7F7F7F">
              <a:alpha val="2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279462" y="1118515"/>
            <a:ext cx="2587329" cy="241757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800" err="1" smtClean="0">
              <a:solidFill>
                <a:schemeClr val="tx1"/>
              </a:solidFill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4204153" y="1016634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3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253455" y="4747641"/>
            <a:ext cx="1148646" cy="242918"/>
            <a:chOff x="2898539" y="2393253"/>
            <a:chExt cx="1148646" cy="242918"/>
          </a:xfrm>
        </p:grpSpPr>
        <p:sp>
          <p:nvSpPr>
            <p:cNvPr id="78" name="직사각형 77"/>
            <p:cNvSpPr/>
            <p:nvPr/>
          </p:nvSpPr>
          <p:spPr>
            <a:xfrm>
              <a:off x="2898539" y="2393253"/>
              <a:ext cx="920044" cy="24291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 smtClea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ko-KR" altLang="en-US" sz="9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3818582" y="2393253"/>
              <a:ext cx="228603" cy="242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Chevron"/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>
              <a:off x="3898328" y="2494074"/>
              <a:ext cx="73025" cy="4127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4" name="직사각형 83"/>
          <p:cNvSpPr/>
          <p:nvPr/>
        </p:nvSpPr>
        <p:spPr>
          <a:xfrm>
            <a:off x="1558631" y="4747641"/>
            <a:ext cx="423383" cy="2429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endParaRPr lang="ko-KR" altLang="en-US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1982014" y="4747641"/>
            <a:ext cx="228603" cy="24291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Chevron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061760" y="4848462"/>
            <a:ext cx="73025" cy="41275"/>
          </a:xfrm>
          <a:custGeom>
            <a:avLst/>
            <a:gdLst>
              <a:gd name="T0" fmla="*/ 0 w 197"/>
              <a:gd name="T1" fmla="*/ 0 h 115"/>
              <a:gd name="T2" fmla="*/ 99 w 197"/>
              <a:gd name="T3" fmla="*/ 115 h 115"/>
              <a:gd name="T4" fmla="*/ 197 w 19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7" h="115">
                <a:moveTo>
                  <a:pt x="0" y="0"/>
                </a:moveTo>
                <a:lnTo>
                  <a:pt x="99" y="115"/>
                </a:lnTo>
                <a:lnTo>
                  <a:pt x="197" y="0"/>
                </a:lnTo>
              </a:path>
            </a:pathLst>
          </a:custGeom>
          <a:noFill/>
          <a:ln w="6350" cap="sq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253455" y="5091380"/>
            <a:ext cx="1148646" cy="242918"/>
            <a:chOff x="2898539" y="2393253"/>
            <a:chExt cx="1148646" cy="242918"/>
          </a:xfrm>
        </p:grpSpPr>
        <p:sp>
          <p:nvSpPr>
            <p:cNvPr id="91" name="직사각형 90"/>
            <p:cNvSpPr/>
            <p:nvPr/>
          </p:nvSpPr>
          <p:spPr>
            <a:xfrm>
              <a:off x="2898539" y="2393253"/>
              <a:ext cx="920044" cy="24291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dirty="0" smtClea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Critical</a:t>
              </a:r>
              <a:endParaRPr lang="ko-KR" altLang="en-US" sz="9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3818582" y="2393253"/>
              <a:ext cx="228603" cy="242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Chevron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auto">
            <a:xfrm>
              <a:off x="3898328" y="2494074"/>
              <a:ext cx="73025" cy="41275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6" name="직사각형 105"/>
          <p:cNvSpPr/>
          <p:nvPr/>
        </p:nvSpPr>
        <p:spPr>
          <a:xfrm>
            <a:off x="259214" y="5414735"/>
            <a:ext cx="1148646" cy="2429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2015-04-22 00:01</a:t>
            </a:r>
            <a:endParaRPr lang="ko-KR" altLang="en-US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Calendar"/>
          <p:cNvSpPr>
            <a:spLocks noChangeAspect="1" noEditPoints="1"/>
          </p:cNvSpPr>
          <p:nvPr/>
        </p:nvSpPr>
        <p:spPr bwMode="auto">
          <a:xfrm>
            <a:off x="1520115" y="5407676"/>
            <a:ext cx="255966" cy="255966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1801638" y="5454482"/>
            <a:ext cx="203805" cy="1623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~</a:t>
            </a:r>
            <a:endParaRPr lang="ko-KR" altLang="en-US" sz="800" dirty="0" smtClean="0">
              <a:solidFill>
                <a:schemeClr val="tx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2037193" y="5414735"/>
            <a:ext cx="1148646" cy="24291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2015-04-22 23:59</a:t>
            </a:r>
            <a:endParaRPr lang="ko-KR" altLang="en-US" sz="9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Calendar"/>
          <p:cNvSpPr>
            <a:spLocks noChangeAspect="1" noEditPoints="1"/>
          </p:cNvSpPr>
          <p:nvPr/>
        </p:nvSpPr>
        <p:spPr bwMode="auto">
          <a:xfrm>
            <a:off x="3298094" y="5407676"/>
            <a:ext cx="255966" cy="255966"/>
          </a:xfrm>
          <a:custGeom>
            <a:avLst/>
            <a:gdLst>
              <a:gd name="T0" fmla="*/ 120 w 667"/>
              <a:gd name="T1" fmla="*/ 27 h 667"/>
              <a:gd name="T2" fmla="*/ 8 w 667"/>
              <a:gd name="T3" fmla="*/ 61 h 667"/>
              <a:gd name="T4" fmla="*/ 8 w 667"/>
              <a:gd name="T5" fmla="*/ 659 h 667"/>
              <a:gd name="T6" fmla="*/ 659 w 667"/>
              <a:gd name="T7" fmla="*/ 659 h 667"/>
              <a:gd name="T8" fmla="*/ 659 w 667"/>
              <a:gd name="T9" fmla="*/ 61 h 667"/>
              <a:gd name="T10" fmla="*/ 547 w 667"/>
              <a:gd name="T11" fmla="*/ 27 h 667"/>
              <a:gd name="T12" fmla="*/ 493 w 667"/>
              <a:gd name="T13" fmla="*/ 0 h 667"/>
              <a:gd name="T14" fmla="*/ 467 w 667"/>
              <a:gd name="T15" fmla="*/ 54 h 667"/>
              <a:gd name="T16" fmla="*/ 192 w 667"/>
              <a:gd name="T17" fmla="*/ 8 h 667"/>
              <a:gd name="T18" fmla="*/ 147 w 667"/>
              <a:gd name="T19" fmla="*/ 27 h 667"/>
              <a:gd name="T20" fmla="*/ 147 w 667"/>
              <a:gd name="T21" fmla="*/ 107 h 667"/>
              <a:gd name="T22" fmla="*/ 520 w 667"/>
              <a:gd name="T23" fmla="*/ 27 h 667"/>
              <a:gd name="T24" fmla="*/ 493 w 667"/>
              <a:gd name="T25" fmla="*/ 27 h 667"/>
              <a:gd name="T26" fmla="*/ 120 w 667"/>
              <a:gd name="T27" fmla="*/ 107 h 667"/>
              <a:gd name="T28" fmla="*/ 173 w 667"/>
              <a:gd name="T29" fmla="*/ 134 h 667"/>
              <a:gd name="T30" fmla="*/ 200 w 667"/>
              <a:gd name="T31" fmla="*/ 80 h 667"/>
              <a:gd name="T32" fmla="*/ 474 w 667"/>
              <a:gd name="T33" fmla="*/ 126 h 667"/>
              <a:gd name="T34" fmla="*/ 539 w 667"/>
              <a:gd name="T35" fmla="*/ 126 h 667"/>
              <a:gd name="T36" fmla="*/ 640 w 667"/>
              <a:gd name="T37" fmla="*/ 80 h 667"/>
              <a:gd name="T38" fmla="*/ 27 w 667"/>
              <a:gd name="T39" fmla="*/ 80 h 667"/>
              <a:gd name="T40" fmla="*/ 640 w 667"/>
              <a:gd name="T41" fmla="*/ 640 h 667"/>
              <a:gd name="T42" fmla="*/ 93 w 667"/>
              <a:gd name="T43" fmla="*/ 280 h 667"/>
              <a:gd name="T44" fmla="*/ 93 w 667"/>
              <a:gd name="T45" fmla="*/ 587 h 667"/>
              <a:gd name="T46" fmla="*/ 587 w 667"/>
              <a:gd name="T47" fmla="*/ 574 h 667"/>
              <a:gd name="T48" fmla="*/ 93 w 667"/>
              <a:gd name="T49" fmla="*/ 280 h 667"/>
              <a:gd name="T50" fmla="*/ 200 w 667"/>
              <a:gd name="T51" fmla="*/ 374 h 667"/>
              <a:gd name="T52" fmla="*/ 227 w 667"/>
              <a:gd name="T53" fmla="*/ 307 h 667"/>
              <a:gd name="T54" fmla="*/ 227 w 667"/>
              <a:gd name="T55" fmla="*/ 374 h 667"/>
              <a:gd name="T56" fmla="*/ 440 w 667"/>
              <a:gd name="T57" fmla="*/ 307 h 667"/>
              <a:gd name="T58" fmla="*/ 347 w 667"/>
              <a:gd name="T59" fmla="*/ 307 h 667"/>
              <a:gd name="T60" fmla="*/ 560 w 667"/>
              <a:gd name="T61" fmla="*/ 374 h 667"/>
              <a:gd name="T62" fmla="*/ 107 w 667"/>
              <a:gd name="T63" fmla="*/ 400 h 667"/>
              <a:gd name="T64" fmla="*/ 107 w 667"/>
              <a:gd name="T65" fmla="*/ 467 h 667"/>
              <a:gd name="T66" fmla="*/ 320 w 667"/>
              <a:gd name="T67" fmla="*/ 400 h 667"/>
              <a:gd name="T68" fmla="*/ 227 w 667"/>
              <a:gd name="T69" fmla="*/ 400 h 667"/>
              <a:gd name="T70" fmla="*/ 440 w 667"/>
              <a:gd name="T71" fmla="*/ 467 h 667"/>
              <a:gd name="T72" fmla="*/ 467 w 667"/>
              <a:gd name="T73" fmla="*/ 400 h 667"/>
              <a:gd name="T74" fmla="*/ 467 w 667"/>
              <a:gd name="T75" fmla="*/ 467 h 667"/>
              <a:gd name="T76" fmla="*/ 200 w 667"/>
              <a:gd name="T77" fmla="*/ 494 h 667"/>
              <a:gd name="T78" fmla="*/ 107 w 667"/>
              <a:gd name="T79" fmla="*/ 494 h 667"/>
              <a:gd name="T80" fmla="*/ 320 w 667"/>
              <a:gd name="T81" fmla="*/ 560 h 667"/>
              <a:gd name="T82" fmla="*/ 347 w 667"/>
              <a:gd name="T83" fmla="*/ 494 h 667"/>
              <a:gd name="T84" fmla="*/ 400 w 667"/>
              <a:gd name="T85" fmla="*/ 560 h 667"/>
              <a:gd name="T86" fmla="*/ 467 w 667"/>
              <a:gd name="T87" fmla="*/ 494 h 667"/>
              <a:gd name="T88" fmla="*/ 467 w 667"/>
              <a:gd name="T89" fmla="*/ 560 h 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67" h="667">
                <a:moveTo>
                  <a:pt x="147" y="0"/>
                </a:moveTo>
                <a:cubicBezTo>
                  <a:pt x="140" y="0"/>
                  <a:pt x="133" y="3"/>
                  <a:pt x="128" y="8"/>
                </a:cubicBezTo>
                <a:cubicBezTo>
                  <a:pt x="123" y="13"/>
                  <a:pt x="120" y="20"/>
                  <a:pt x="120" y="27"/>
                </a:cubicBezTo>
                <a:lnTo>
                  <a:pt x="120" y="54"/>
                </a:lnTo>
                <a:lnTo>
                  <a:pt x="27" y="54"/>
                </a:lnTo>
                <a:cubicBezTo>
                  <a:pt x="20" y="54"/>
                  <a:pt x="13" y="56"/>
                  <a:pt x="8" y="61"/>
                </a:cubicBezTo>
                <a:cubicBezTo>
                  <a:pt x="3" y="66"/>
                  <a:pt x="0" y="73"/>
                  <a:pt x="0" y="80"/>
                </a:cubicBezTo>
                <a:lnTo>
                  <a:pt x="0" y="640"/>
                </a:lnTo>
                <a:cubicBezTo>
                  <a:pt x="0" y="647"/>
                  <a:pt x="3" y="654"/>
                  <a:pt x="8" y="659"/>
                </a:cubicBezTo>
                <a:cubicBezTo>
                  <a:pt x="13" y="664"/>
                  <a:pt x="20" y="667"/>
                  <a:pt x="27" y="667"/>
                </a:cubicBezTo>
                <a:lnTo>
                  <a:pt x="640" y="667"/>
                </a:lnTo>
                <a:cubicBezTo>
                  <a:pt x="647" y="667"/>
                  <a:pt x="654" y="664"/>
                  <a:pt x="659" y="659"/>
                </a:cubicBezTo>
                <a:cubicBezTo>
                  <a:pt x="664" y="654"/>
                  <a:pt x="667" y="647"/>
                  <a:pt x="667" y="640"/>
                </a:cubicBezTo>
                <a:lnTo>
                  <a:pt x="667" y="80"/>
                </a:lnTo>
                <a:cubicBezTo>
                  <a:pt x="667" y="73"/>
                  <a:pt x="664" y="66"/>
                  <a:pt x="659" y="61"/>
                </a:cubicBezTo>
                <a:cubicBezTo>
                  <a:pt x="654" y="56"/>
                  <a:pt x="647" y="54"/>
                  <a:pt x="640" y="54"/>
                </a:cubicBezTo>
                <a:lnTo>
                  <a:pt x="547" y="54"/>
                </a:lnTo>
                <a:lnTo>
                  <a:pt x="547" y="27"/>
                </a:lnTo>
                <a:cubicBezTo>
                  <a:pt x="547" y="20"/>
                  <a:pt x="544" y="13"/>
                  <a:pt x="539" y="8"/>
                </a:cubicBezTo>
                <a:cubicBezTo>
                  <a:pt x="534" y="3"/>
                  <a:pt x="527" y="0"/>
                  <a:pt x="520" y="0"/>
                </a:cubicBezTo>
                <a:lnTo>
                  <a:pt x="493" y="0"/>
                </a:lnTo>
                <a:cubicBezTo>
                  <a:pt x="486" y="0"/>
                  <a:pt x="479" y="3"/>
                  <a:pt x="474" y="8"/>
                </a:cubicBezTo>
                <a:cubicBezTo>
                  <a:pt x="469" y="13"/>
                  <a:pt x="467" y="20"/>
                  <a:pt x="467" y="27"/>
                </a:cubicBezTo>
                <a:lnTo>
                  <a:pt x="467" y="54"/>
                </a:lnTo>
                <a:lnTo>
                  <a:pt x="200" y="54"/>
                </a:lnTo>
                <a:lnTo>
                  <a:pt x="200" y="27"/>
                </a:lnTo>
                <a:cubicBezTo>
                  <a:pt x="200" y="20"/>
                  <a:pt x="197" y="13"/>
                  <a:pt x="192" y="8"/>
                </a:cubicBezTo>
                <a:cubicBezTo>
                  <a:pt x="187" y="3"/>
                  <a:pt x="180" y="0"/>
                  <a:pt x="173" y="0"/>
                </a:cubicBezTo>
                <a:lnTo>
                  <a:pt x="147" y="0"/>
                </a:lnTo>
                <a:close/>
                <a:moveTo>
                  <a:pt x="147" y="27"/>
                </a:moveTo>
                <a:lnTo>
                  <a:pt x="173" y="27"/>
                </a:lnTo>
                <a:lnTo>
                  <a:pt x="173" y="107"/>
                </a:lnTo>
                <a:lnTo>
                  <a:pt x="147" y="107"/>
                </a:lnTo>
                <a:lnTo>
                  <a:pt x="147" y="27"/>
                </a:lnTo>
                <a:close/>
                <a:moveTo>
                  <a:pt x="493" y="27"/>
                </a:moveTo>
                <a:lnTo>
                  <a:pt x="520" y="27"/>
                </a:lnTo>
                <a:lnTo>
                  <a:pt x="520" y="107"/>
                </a:lnTo>
                <a:lnTo>
                  <a:pt x="493" y="107"/>
                </a:lnTo>
                <a:lnTo>
                  <a:pt x="493" y="27"/>
                </a:lnTo>
                <a:close/>
                <a:moveTo>
                  <a:pt x="27" y="80"/>
                </a:moveTo>
                <a:lnTo>
                  <a:pt x="120" y="80"/>
                </a:lnTo>
                <a:lnTo>
                  <a:pt x="120" y="107"/>
                </a:lnTo>
                <a:cubicBezTo>
                  <a:pt x="120" y="114"/>
                  <a:pt x="123" y="121"/>
                  <a:pt x="128" y="126"/>
                </a:cubicBezTo>
                <a:cubicBezTo>
                  <a:pt x="133" y="131"/>
                  <a:pt x="140" y="134"/>
                  <a:pt x="147" y="134"/>
                </a:cubicBezTo>
                <a:lnTo>
                  <a:pt x="173" y="134"/>
                </a:lnTo>
                <a:cubicBezTo>
                  <a:pt x="180" y="134"/>
                  <a:pt x="187" y="131"/>
                  <a:pt x="192" y="126"/>
                </a:cubicBezTo>
                <a:cubicBezTo>
                  <a:pt x="197" y="121"/>
                  <a:pt x="200" y="114"/>
                  <a:pt x="200" y="107"/>
                </a:cubicBezTo>
                <a:lnTo>
                  <a:pt x="200" y="80"/>
                </a:lnTo>
                <a:lnTo>
                  <a:pt x="467" y="80"/>
                </a:lnTo>
                <a:lnTo>
                  <a:pt x="467" y="107"/>
                </a:lnTo>
                <a:cubicBezTo>
                  <a:pt x="467" y="114"/>
                  <a:pt x="469" y="121"/>
                  <a:pt x="474" y="126"/>
                </a:cubicBezTo>
                <a:cubicBezTo>
                  <a:pt x="479" y="131"/>
                  <a:pt x="486" y="134"/>
                  <a:pt x="493" y="134"/>
                </a:cubicBezTo>
                <a:lnTo>
                  <a:pt x="520" y="134"/>
                </a:lnTo>
                <a:cubicBezTo>
                  <a:pt x="527" y="134"/>
                  <a:pt x="534" y="131"/>
                  <a:pt x="539" y="126"/>
                </a:cubicBezTo>
                <a:cubicBezTo>
                  <a:pt x="544" y="121"/>
                  <a:pt x="547" y="114"/>
                  <a:pt x="547" y="107"/>
                </a:cubicBezTo>
                <a:lnTo>
                  <a:pt x="547" y="80"/>
                </a:lnTo>
                <a:lnTo>
                  <a:pt x="640" y="80"/>
                </a:lnTo>
                <a:lnTo>
                  <a:pt x="640" y="187"/>
                </a:lnTo>
                <a:lnTo>
                  <a:pt x="27" y="187"/>
                </a:lnTo>
                <a:lnTo>
                  <a:pt x="27" y="80"/>
                </a:lnTo>
                <a:close/>
                <a:moveTo>
                  <a:pt x="27" y="214"/>
                </a:moveTo>
                <a:lnTo>
                  <a:pt x="640" y="214"/>
                </a:lnTo>
                <a:lnTo>
                  <a:pt x="640" y="640"/>
                </a:lnTo>
                <a:lnTo>
                  <a:pt x="27" y="640"/>
                </a:lnTo>
                <a:lnTo>
                  <a:pt x="27" y="214"/>
                </a:lnTo>
                <a:close/>
                <a:moveTo>
                  <a:pt x="93" y="280"/>
                </a:moveTo>
                <a:cubicBezTo>
                  <a:pt x="86" y="280"/>
                  <a:pt x="80" y="286"/>
                  <a:pt x="80" y="294"/>
                </a:cubicBezTo>
                <a:lnTo>
                  <a:pt x="80" y="574"/>
                </a:lnTo>
                <a:cubicBezTo>
                  <a:pt x="80" y="581"/>
                  <a:pt x="86" y="587"/>
                  <a:pt x="93" y="587"/>
                </a:cubicBezTo>
                <a:lnTo>
                  <a:pt x="400" y="587"/>
                </a:lnTo>
                <a:lnTo>
                  <a:pt x="573" y="587"/>
                </a:lnTo>
                <a:cubicBezTo>
                  <a:pt x="581" y="587"/>
                  <a:pt x="587" y="581"/>
                  <a:pt x="587" y="574"/>
                </a:cubicBezTo>
                <a:lnTo>
                  <a:pt x="587" y="294"/>
                </a:lnTo>
                <a:cubicBezTo>
                  <a:pt x="587" y="286"/>
                  <a:pt x="581" y="280"/>
                  <a:pt x="573" y="280"/>
                </a:cubicBezTo>
                <a:lnTo>
                  <a:pt x="93" y="280"/>
                </a:lnTo>
                <a:close/>
                <a:moveTo>
                  <a:pt x="107" y="307"/>
                </a:moveTo>
                <a:lnTo>
                  <a:pt x="200" y="307"/>
                </a:lnTo>
                <a:lnTo>
                  <a:pt x="200" y="374"/>
                </a:lnTo>
                <a:lnTo>
                  <a:pt x="107" y="374"/>
                </a:lnTo>
                <a:lnTo>
                  <a:pt x="107" y="307"/>
                </a:lnTo>
                <a:close/>
                <a:moveTo>
                  <a:pt x="227" y="307"/>
                </a:moveTo>
                <a:lnTo>
                  <a:pt x="320" y="307"/>
                </a:lnTo>
                <a:lnTo>
                  <a:pt x="320" y="374"/>
                </a:lnTo>
                <a:lnTo>
                  <a:pt x="227" y="374"/>
                </a:lnTo>
                <a:lnTo>
                  <a:pt x="227" y="307"/>
                </a:lnTo>
                <a:close/>
                <a:moveTo>
                  <a:pt x="347" y="307"/>
                </a:moveTo>
                <a:lnTo>
                  <a:pt x="440" y="307"/>
                </a:lnTo>
                <a:lnTo>
                  <a:pt x="440" y="374"/>
                </a:lnTo>
                <a:lnTo>
                  <a:pt x="347" y="374"/>
                </a:lnTo>
                <a:lnTo>
                  <a:pt x="347" y="307"/>
                </a:lnTo>
                <a:close/>
                <a:moveTo>
                  <a:pt x="467" y="307"/>
                </a:moveTo>
                <a:lnTo>
                  <a:pt x="560" y="307"/>
                </a:lnTo>
                <a:lnTo>
                  <a:pt x="560" y="374"/>
                </a:lnTo>
                <a:lnTo>
                  <a:pt x="467" y="374"/>
                </a:lnTo>
                <a:lnTo>
                  <a:pt x="467" y="307"/>
                </a:lnTo>
                <a:close/>
                <a:moveTo>
                  <a:pt x="107" y="400"/>
                </a:moveTo>
                <a:lnTo>
                  <a:pt x="200" y="400"/>
                </a:lnTo>
                <a:lnTo>
                  <a:pt x="200" y="467"/>
                </a:lnTo>
                <a:lnTo>
                  <a:pt x="107" y="467"/>
                </a:lnTo>
                <a:lnTo>
                  <a:pt x="107" y="400"/>
                </a:lnTo>
                <a:close/>
                <a:moveTo>
                  <a:pt x="227" y="400"/>
                </a:moveTo>
                <a:lnTo>
                  <a:pt x="320" y="400"/>
                </a:lnTo>
                <a:lnTo>
                  <a:pt x="320" y="467"/>
                </a:lnTo>
                <a:lnTo>
                  <a:pt x="227" y="467"/>
                </a:lnTo>
                <a:lnTo>
                  <a:pt x="227" y="400"/>
                </a:lnTo>
                <a:close/>
                <a:moveTo>
                  <a:pt x="347" y="400"/>
                </a:moveTo>
                <a:lnTo>
                  <a:pt x="440" y="400"/>
                </a:lnTo>
                <a:lnTo>
                  <a:pt x="440" y="467"/>
                </a:lnTo>
                <a:lnTo>
                  <a:pt x="347" y="467"/>
                </a:lnTo>
                <a:lnTo>
                  <a:pt x="347" y="400"/>
                </a:lnTo>
                <a:close/>
                <a:moveTo>
                  <a:pt x="467" y="400"/>
                </a:moveTo>
                <a:lnTo>
                  <a:pt x="560" y="400"/>
                </a:lnTo>
                <a:lnTo>
                  <a:pt x="560" y="467"/>
                </a:lnTo>
                <a:lnTo>
                  <a:pt x="467" y="467"/>
                </a:lnTo>
                <a:lnTo>
                  <a:pt x="467" y="400"/>
                </a:lnTo>
                <a:close/>
                <a:moveTo>
                  <a:pt x="107" y="494"/>
                </a:moveTo>
                <a:lnTo>
                  <a:pt x="200" y="494"/>
                </a:lnTo>
                <a:lnTo>
                  <a:pt x="200" y="560"/>
                </a:lnTo>
                <a:lnTo>
                  <a:pt x="107" y="560"/>
                </a:lnTo>
                <a:lnTo>
                  <a:pt x="107" y="494"/>
                </a:lnTo>
                <a:close/>
                <a:moveTo>
                  <a:pt x="227" y="494"/>
                </a:moveTo>
                <a:lnTo>
                  <a:pt x="320" y="494"/>
                </a:lnTo>
                <a:lnTo>
                  <a:pt x="320" y="560"/>
                </a:lnTo>
                <a:lnTo>
                  <a:pt x="227" y="560"/>
                </a:lnTo>
                <a:lnTo>
                  <a:pt x="227" y="494"/>
                </a:lnTo>
                <a:close/>
                <a:moveTo>
                  <a:pt x="347" y="494"/>
                </a:moveTo>
                <a:lnTo>
                  <a:pt x="440" y="494"/>
                </a:lnTo>
                <a:lnTo>
                  <a:pt x="440" y="560"/>
                </a:lnTo>
                <a:lnTo>
                  <a:pt x="400" y="560"/>
                </a:lnTo>
                <a:lnTo>
                  <a:pt x="347" y="560"/>
                </a:lnTo>
                <a:lnTo>
                  <a:pt x="347" y="494"/>
                </a:lnTo>
                <a:close/>
                <a:moveTo>
                  <a:pt x="467" y="494"/>
                </a:moveTo>
                <a:lnTo>
                  <a:pt x="560" y="494"/>
                </a:lnTo>
                <a:lnTo>
                  <a:pt x="560" y="560"/>
                </a:lnTo>
                <a:lnTo>
                  <a:pt x="467" y="560"/>
                </a:lnTo>
                <a:lnTo>
                  <a:pt x="467" y="4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1" name="타원 120"/>
          <p:cNvSpPr/>
          <p:nvPr/>
        </p:nvSpPr>
        <p:spPr>
          <a:xfrm>
            <a:off x="141947" y="4660180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3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28871443"/>
              </p:ext>
            </p:extLst>
          </p:nvPr>
        </p:nvGraphicFramePr>
        <p:xfrm>
          <a:off x="7323992" y="5429635"/>
          <a:ext cx="2472598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370"/>
                <a:gridCol w="1980228"/>
              </a:tblGrid>
              <a:tr h="201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rgbClr val="7F7F7F"/>
                          </a:solidFill>
                        </a:rPr>
                        <a:t>Link</a:t>
                      </a:r>
                      <a:endParaRPr lang="ko-KR" altLang="en-US" sz="900" b="1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smtClean="0">
                          <a:solidFill>
                            <a:srgbClr val="7F7F7F"/>
                          </a:solidFill>
                        </a:rPr>
                        <a:t>이동 화면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13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A150</a:t>
                      </a: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132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2</a:t>
                      </a:r>
                      <a:endParaRPr lang="ko-KR" altLang="en-US" sz="9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132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3</a:t>
                      </a:r>
                      <a:endParaRPr lang="ko-KR" altLang="en-US" sz="9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2132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solidFill>
                            <a:srgbClr val="7F7F7F"/>
                          </a:solidFill>
                        </a:rPr>
                        <a:t>4</a:t>
                      </a:r>
                      <a:endParaRPr lang="ko-KR" altLang="en-US" sz="9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0" name="Window Body"/>
          <p:cNvSpPr/>
          <p:nvPr>
            <p:custDataLst>
              <p:tags r:id="rId8"/>
            </p:custDataLst>
          </p:nvPr>
        </p:nvSpPr>
        <p:spPr>
          <a:xfrm>
            <a:off x="3732631" y="3380052"/>
            <a:ext cx="3308364" cy="2277602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Text"/>
          <p:cNvSpPr txBox="1"/>
          <p:nvPr>
            <p:custDataLst>
              <p:tags r:id="rId9"/>
            </p:custDataLst>
          </p:nvPr>
        </p:nvSpPr>
        <p:spPr>
          <a:xfrm>
            <a:off x="3797977" y="3406685"/>
            <a:ext cx="2918684" cy="236227"/>
          </a:xfrm>
          <a:prstGeom prst="rect">
            <a:avLst/>
          </a:prstGeom>
          <a:noFill/>
        </p:spPr>
        <p:txBody>
          <a:bodyPr wrap="square" lIns="73152" tIns="36576" rIns="73152" bIns="36576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noProof="1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알람이 발생 하였습니다</a:t>
            </a:r>
            <a:r>
              <a:rPr lang="en-US" altLang="ko-KR" sz="900" noProof="1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sz="900" noProof="1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Title Bar"/>
          <p:cNvSpPr/>
          <p:nvPr>
            <p:custDataLst>
              <p:tags r:id="rId10"/>
            </p:custDataLst>
          </p:nvPr>
        </p:nvSpPr>
        <p:spPr>
          <a:xfrm>
            <a:off x="3732630" y="3142307"/>
            <a:ext cx="3308365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 err="1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알람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Close Button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6871423" y="3213554"/>
            <a:ext cx="98425" cy="95250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8" name="Button 1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5055297" y="5334290"/>
            <a:ext cx="663029" cy="240384"/>
          </a:xfrm>
          <a:prstGeom prst="roundRect">
            <a:avLst>
              <a:gd name="adj" fmla="val 8776"/>
            </a:avLst>
          </a:prstGeom>
          <a:solidFill>
            <a:srgbClr val="FFFFFF"/>
          </a:solidFill>
          <a:ln w="6350" cap="flat" cmpd="sng" algn="ctr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확인</a:t>
            </a:r>
            <a:endParaRPr lang="en-US" sz="900" dirty="0">
              <a:solidFill>
                <a:srgbClr val="5F5F5F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타원 129"/>
          <p:cNvSpPr/>
          <p:nvPr/>
        </p:nvSpPr>
        <p:spPr>
          <a:xfrm>
            <a:off x="3657300" y="3049986"/>
            <a:ext cx="184639" cy="184639"/>
          </a:xfrm>
          <a:prstGeom prst="ellips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b="1" dirty="0" smtClean="0">
                <a:solidFill>
                  <a:schemeClr val="bg1"/>
                </a:solidFill>
              </a:rPr>
              <a:t>6</a:t>
            </a:r>
            <a:endParaRPr lang="ko-KR" altLang="en-US" sz="8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72794854"/>
              </p:ext>
            </p:extLst>
          </p:nvPr>
        </p:nvGraphicFramePr>
        <p:xfrm>
          <a:off x="3887522" y="3702830"/>
          <a:ext cx="2936010" cy="1510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024"/>
                <a:gridCol w="2189986"/>
              </a:tblGrid>
              <a:tr h="302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등급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CRITICL</a:t>
                      </a:r>
                      <a:endParaRPr lang="ko-KR" altLang="en-US" sz="80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발생 일 시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2015-04-22 13:00</a:t>
                      </a:r>
                      <a:endParaRPr lang="ko-KR" altLang="en-US" sz="800" dirty="0" smtClean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AGV </a:t>
                      </a:r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명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 smtClean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AGV</a:t>
                      </a:r>
                      <a:r>
                        <a:rPr lang="ko-KR" altLang="en-US" sz="800" b="0" dirty="0" smtClean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altLang="ko-KR" sz="800" b="0" dirty="0" smtClean="0">
                          <a:solidFill>
                            <a:srgbClr val="7F7F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001</a:t>
                      </a:r>
                      <a:endParaRPr lang="ko-KR" altLang="en-US" sz="800" b="0" dirty="0" smtClean="0">
                        <a:solidFill>
                          <a:srgbClr val="7F7F7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위치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00 </a:t>
                      </a:r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건물 </a:t>
                      </a:r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12</a:t>
                      </a:r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층</a:t>
                      </a:r>
                      <a:endParaRPr lang="ko-KR" altLang="en-US" sz="800" b="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2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solidFill>
                            <a:srgbClr val="7F7F7F"/>
                          </a:solidFill>
                        </a:rPr>
                        <a:t>상세정보</a:t>
                      </a:r>
                      <a:endParaRPr lang="ko-KR" altLang="en-US" sz="80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rgbClr val="7F7F7F"/>
                          </a:solidFill>
                        </a:rPr>
                        <a:t>OUT</a:t>
                      </a:r>
                      <a:r>
                        <a:rPr lang="ko-KR" altLang="en-US" sz="800" baseline="0" dirty="0" smtClean="0">
                          <a:solidFill>
                            <a:srgbClr val="7F7F7F"/>
                          </a:solidFill>
                        </a:rPr>
                        <a:t> </a:t>
                      </a:r>
                      <a:r>
                        <a:rPr lang="en-US" altLang="ko-KR" sz="800" baseline="0" dirty="0" smtClean="0">
                          <a:solidFill>
                            <a:srgbClr val="7F7F7F"/>
                          </a:solidFill>
                        </a:rPr>
                        <a:t>OF SERVICE</a:t>
                      </a:r>
                      <a:endParaRPr lang="ko-KR" altLang="en-US" sz="800" b="0" dirty="0">
                        <a:solidFill>
                          <a:srgbClr val="7F7F7F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7544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Absolute,Absolu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90,110"/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9ftbPzdYjmrrprxs6peuBe+uy7PGWnG8otq+na9Gr9eZHV7+q7Nlw0hI52dZ9P8671F41q2dVV+zU7Hp5f5ssXLv3GyzBZ5s6IP07D1b5z84t84SelZrSdlMU2nZdY00ubLFRM0fRT8+SRrcnlDX+SX6+Iya/P07FU2K6on67atlmkxrZZny/PK/+yzdLkuy8NbvPndrF7SiL/ey6d1XdVf79WfWOcNBhp9+4b3q2Uuv71/1+2V/tZ8jXfnda4dx9/uv8+c8e1sOSvz+rt1tlrlNY/ee/1knk/f5rOTeba8yGf+C8NoxcBOuhS5DWAPtPBldZnXdTHL00lVlenZsmi3zny2hGymTeeDUXp2vFqlhMcdB9BjWzwT4ucxw+u/jRcDZPCIIG4dE77t63m2yps0836nIeRXqfftFkEZv86hn/KZfCSQPZwieOEpztMtD/b4rGG4nRcHXsZz9256PJulH53R1H6UTlWbxNu+1/TTECNzvXUWwvj9QyB3PI7xn7Pn2SQvGQH57bPeTI5pGPzdFo/l0UdDsCyQ8RdZfVEsFdmX2WxG07bV/Xr8PD9vR723xm+qVeTTV8XFnFrvDA7EG/vndbVeMQj5LT6m7gtbm8bFLYbH5X/tjSv42I4r+FTH1fv8SUWILdJP0vub0OrreAcoHCJNHrXdOHcdYGPlIAIaCMIU/XwmYoY/xnjv/cEqY6afCM63Yv+x/8eGLqMGbJgy2nwjcfogb00fffVrAf/ZpFLEUg/TiBtvpFAX3K3pwy9+DcA/m7SJuyLD5DHtN1IoAvTWRDLvfj3w3wSpNps59YFusnTv6ZEM2LonXSjvZ+0EiVvYOx3UsMnzIMWNQ7+BmofIF2wgIp+/v+kTIM03Yv0GHGu/i5407Kby2yDdYkAHREHnwEqD/j3+0oD4Gl144vAeDHkb3TEUS2wk156SqxmkVxTsexLsjYXxdTr5WSTZYAi1kWj3biZaHPD7ks2D8vU6+tkjXfzTOm/X9TJt63Ueee+X9D/KS5NX8J9fvBH6eUYv3Qze+/OXbAotL6tilj4tmlXV5FvDESOislsbsPR3lZj2FsHebUGOLYqRod8aSj+Ix9OhHIb6Huxy+8G+B9CNw30POIMDDj/gfECsy5B1NOHBLHMW0rzjB2xVk5+m2D9t8uUsr0fiSxzXF02aD/NYkN+pA4UkcNKsCRp1hoWJ81/TiUl/4S/0oRnlcPN8WR+QGSy9ReTVxeAz8fo6gVgklcEv37ITKI2hnvrxzG07G46VNvXXjRBu29tQ5LGpr4iXfdvuPB++/8bPVm4Lz4Aqv32Oyzz9GIVH+QF2wBdmoebPB3GWlxrj4Rgu0Y/Hm3zbCFvGXN2BSfwaHQ4JQ9RdfL9uN7qkg/3Gva337Dn06v5/II6Gpazb/OFCmS/XC6e+hiWMDMQo/EjVeOdTVredz4xOvDUqOs5BbCwrdzpyvNb9wmOFASzuUpbjcbNeUBx9fRR+/LpYrMrivAB/TGlRs0nbKm2ESarzNFumHzHaH4074O724ZnBykKgz3qP0jPxi7JJ6bnqnaHbFSpdeYm7XaYVg04LmjzMrvx1ixeuZGrf650cE/9eb/wiZYv3ekkYf/c92++9Z/t7nfbhGwOsYr7CaleRlcUPwC+sQx43Oc14nZ9/9pE34x/dPaKpadpsScvG5zWtBLTzPG1W+RS8NusDFpbzmMwiE2E0PBqB+SqMf7yCqRVw/Gt0IQ9PRIu186IZC+PRv1G9CgI8o/G4vrZcX90woxchKNKyECnq8UakLvJOm4F2eDS4DYXCs/g95ve+6zC5+ybeFZ4+l3vwAm7ufa5c2/tcuVM/v5UNeC8G/jxvSbHV5DvRT/Ake7kzUk5ldk1JDsqA4lO2TPRxVlYXX5Mp2b8MDQ+eD5xhGNnNhnXgRTycfvB5Y/yTRVOQSoZf8kUxraumOm/HX56fF9N8fFLV+fiLpnpTF69b0iLjBX5f+75q7FEevDEAM4/1k7rM+UNBbvPiFh6LXyggPxTsNi0t4bG49STxh4LeDYs6Pdk0D0nQ0/w8W5dtepmV60jyDs9tGSmSEWx+WBLVXBXtdJ5u8TA2kG8DCDxTyhx1Bvpo8xt4BkT59vO9gbPMMyyUt+vm2UCetfsMCdc328sGMflmO5rUefb2hnadSVdN9LM977cdwYdO/C3560fzzjr+/y+zftt+Pmzab8lb/2+edWM6fzTxPxu9fPDM35LDbjPxM/F0bjHRlBmsriQxV1+sF5QcPn03zVcYyNZHXy2b9WpV1ZSe8+IL9jvGg0vIeCLu0cDH33RoRTmvCeWnKY1kspg/G3GWSRz2UmB4In7XDzXa8oPgr+WSb4y/8fjh9Hv3wPJ0yy7ufUAXX98z9oMAk/zelO03zwDX47FB0//LJ+c9evh/z9xsXBIxz48m55Y9fMNzEy4aDb06bDDiX7x/NH8bQf65jOrjvHf7aTscIhWebzxl0KPmLVyNOO/fboS3dcLi3P8N93ELB6xPKaekfpZJdVs38v+9lPJUxv/3aXXbLm5Bqp8tr15p/cN17NWdvqyKWSrrtPnWzatlJ2We1Vs3rnndEDV89DKrG1ow5HDgorjMl/6SIk/zK6ytYUXxHNEFPkF8kbVkU1Z13hBF8XIf9CqrW17F/pBIQ1dQmTaRxT/3q7fm+D60638H0+VgwV/AUtiApRCzGoXT1tf9DzeYS9fn+M31ijselCoeNlpBrD6vq/UKS3gehJNqTdNCIHbxBa2mjvmVr9qibMYUKb7IFsHKKZrKAvJH72+vGQGG36QX+P2szRcNaQUPoc/t5xtECmTwAOgq5Nc30tEp8J8b3scDpqdVuzYtaEC7h/Tj8WfeKIXS9PEnn9ywfIPnFv3hYVoK9VK/s+8V37+F/sTDS9zTbPkqJ05v8tcKqr2dBsZzA+1cw1uOCY9l8/fk8ON1Kx/c6PJ3H+nNvn9jt0FLdC0KhuZ4ls9e5dOWmLn8umh8O2ve5O9IhZHwfVNxSPd5j9nA0w31jLqz6mT8QpH9SExjujukIIae98QIT4iRIHJLtvWfPv+f39Jb858N0XLs6UTQe7ck694PjawGo/9Pk/XeLcl674dGVoPR/3fI+h5NLfW/jvZ+RjEMWdHFe8zEe84CMAuWaTYwBhb3UzT8IXBGB6f/77AGHjvn3bWpDcTVRfQfFn37mP1/lMThstwGAvNq9Q+LvF2s/j9K3N5q5Ab6mnXhHxaJI7j9f4fKt2x6y2bnxTIryxsCNvO8B6nBAh3SvOe8fkEpknlWjhXESbX4cvLTFAuINdyUI/KfW5DhhiY3fH0rAt6CcIPDdYHoTWPegOnXTpvhmWacuz/58gubxEvzd5HpHBgmEiHPq4uLvB6zJt366FlWlJT8aysy1kVL6aniB5qDZU5p6OOGgr5pnp5T5onWQEqiBL3AU9+MPxqh/8OhBYd4jg7PBy72v6K8my7ze+m6L/KmyS7yJ9U7QR5JO4P/10266RDCFhHy9n2w4fTNwOwMMl4Ad4j3us4W+r6Z8PxmzMn55rDvgh4aQMSbeb8xdOz1NzeCEPAQ/j134f2w75vCb24APdhDY4jZ4/cbRpC7+OZG4IMdQr6TNvk6eGty4JvGe+8WeNu8xNfBW6Pvbxrve7fA2wb+t8Pb+1N/pR+/5P8B96SA2U9VAAA="/>
  <p:tag name="SMARTOPTIONSCODESIGNATURE" val="BLF4JWurVfxIUHaELsi3Nd7j9DhOHL/Mzfty2RbBJndEYSJzEH2XjlOCGM5N4Y9nV5FTIAS219vteJTD3Z/4XWVvkZtfgQxlLmoV4wsdfH8OKo8X1itX6TvbMBqX/oVA+6SyYCB5R8xQ4594vwKX3+d6QJj8QV8I9/euyLGJBof34ivmhhRbXnBaRyyay1r8dKnNOuIGkZTn/zoB/RFkN++hixRlxyYGoJYmk9hnLTUGhiN+xcV4T178pA3JDT3bqSjbV1YYEDUiXfNhZcEEDh1Y2sAb87IQ+7WlC694jPU9ip4XAQBKAedRPoA3wYsewBmLptQX6R00D9TbbxddDA=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Non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Absolute,None,Absolute"/>
</p:tagLst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80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14008</TotalTime>
  <Words>595</Words>
  <Application>Microsoft Office PowerPoint</Application>
  <PresentationFormat>A4 용지(210x297mm)</PresentationFormat>
  <Paragraphs>364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디자인 사용자 지정</vt:lpstr>
      <vt:lpstr>메뉴 구성도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revenue</dc:creator>
  <cp:lastModifiedBy>SAM-D25</cp:lastModifiedBy>
  <cp:revision>687</cp:revision>
  <cp:lastPrinted>2015-04-27T05:38:47Z</cp:lastPrinted>
  <dcterms:created xsi:type="dcterms:W3CDTF">2012-07-20T11:32:52Z</dcterms:created>
  <dcterms:modified xsi:type="dcterms:W3CDTF">2015-11-10T01:14:20Z</dcterms:modified>
</cp:coreProperties>
</file>